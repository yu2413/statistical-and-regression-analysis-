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FBFE2B-F6AF-4990-8A2A-394A8F98F48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6D81B87-3215-4478-A78C-C8BFFEEF52D8}">
      <dgm:prSet/>
      <dgm:spPr/>
      <dgm:t>
        <a:bodyPr/>
        <a:lstStyle/>
        <a:p>
          <a:pPr>
            <a:defRPr cap="all"/>
          </a:pPr>
          <a:r>
            <a:rPr lang="en-US"/>
            <a:t>How do demography (population growth) and institutions relate to GDP per-capita growth?</a:t>
          </a:r>
        </a:p>
      </dgm:t>
    </dgm:pt>
    <dgm:pt modelId="{6207565C-DB90-4395-8F73-82AE00C1761E}" type="parTrans" cxnId="{58D9ED93-BC3E-484C-9208-F3C55AF61268}">
      <dgm:prSet/>
      <dgm:spPr/>
      <dgm:t>
        <a:bodyPr/>
        <a:lstStyle/>
        <a:p>
          <a:endParaRPr lang="en-US"/>
        </a:p>
      </dgm:t>
    </dgm:pt>
    <dgm:pt modelId="{E56690B0-9C48-48D4-A29B-A022C4AAF021}" type="sibTrans" cxnId="{58D9ED93-BC3E-484C-9208-F3C55AF61268}">
      <dgm:prSet/>
      <dgm:spPr/>
      <dgm:t>
        <a:bodyPr/>
        <a:lstStyle/>
        <a:p>
          <a:endParaRPr lang="en-US"/>
        </a:p>
      </dgm:t>
    </dgm:pt>
    <dgm:pt modelId="{8AC54FAD-0A05-42C4-AF61-96BFE43CB2AA}">
      <dgm:prSet/>
      <dgm:spPr/>
      <dgm:t>
        <a:bodyPr/>
        <a:lstStyle/>
        <a:p>
          <a:pPr>
            <a:defRPr cap="all"/>
          </a:pPr>
          <a:r>
            <a:rPr lang="en-US"/>
            <a:t>Investment and external finance (FDI) may mediate or offset demographic dilution.</a:t>
          </a:r>
        </a:p>
      </dgm:t>
    </dgm:pt>
    <dgm:pt modelId="{8E2467CB-F80C-4C60-9574-679A1A60F475}" type="parTrans" cxnId="{BA308318-A54D-4CA2-8493-3C110AF11DDE}">
      <dgm:prSet/>
      <dgm:spPr/>
      <dgm:t>
        <a:bodyPr/>
        <a:lstStyle/>
        <a:p>
          <a:endParaRPr lang="en-US"/>
        </a:p>
      </dgm:t>
    </dgm:pt>
    <dgm:pt modelId="{869BBF20-113C-47BB-81B2-328FFE46A56E}" type="sibTrans" cxnId="{BA308318-A54D-4CA2-8493-3C110AF11DDE}">
      <dgm:prSet/>
      <dgm:spPr/>
      <dgm:t>
        <a:bodyPr/>
        <a:lstStyle/>
        <a:p>
          <a:endParaRPr lang="en-US"/>
        </a:p>
      </dgm:t>
    </dgm:pt>
    <dgm:pt modelId="{EB3D12E3-C12C-4A74-8C4B-EA2191357961}">
      <dgm:prSet/>
      <dgm:spPr/>
      <dgm:t>
        <a:bodyPr/>
        <a:lstStyle/>
        <a:p>
          <a:pPr>
            <a:defRPr cap="all"/>
          </a:pPr>
          <a:r>
            <a:rPr lang="en-US"/>
            <a:t>Goal: Provide transparent, non-causal associations with reproducible tables/figures.</a:t>
          </a:r>
        </a:p>
      </dgm:t>
    </dgm:pt>
    <dgm:pt modelId="{BAC17CE5-9E94-4D5B-B1C0-34A96ABFA049}" type="parTrans" cxnId="{EFE53A12-63FE-4DEF-B8C5-818E72BC9599}">
      <dgm:prSet/>
      <dgm:spPr/>
      <dgm:t>
        <a:bodyPr/>
        <a:lstStyle/>
        <a:p>
          <a:endParaRPr lang="en-US"/>
        </a:p>
      </dgm:t>
    </dgm:pt>
    <dgm:pt modelId="{347F3934-71F6-48CA-BE0A-AF91EDD6BCB5}" type="sibTrans" cxnId="{EFE53A12-63FE-4DEF-B8C5-818E72BC9599}">
      <dgm:prSet/>
      <dgm:spPr/>
      <dgm:t>
        <a:bodyPr/>
        <a:lstStyle/>
        <a:p>
          <a:endParaRPr lang="en-US"/>
        </a:p>
      </dgm:t>
    </dgm:pt>
    <dgm:pt modelId="{2612B677-C27F-41E2-9C96-518AA5501E03}" type="pres">
      <dgm:prSet presAssocID="{01FBFE2B-F6AF-4990-8A2A-394A8F98F481}" presName="root" presStyleCnt="0">
        <dgm:presLayoutVars>
          <dgm:dir/>
          <dgm:resizeHandles val="exact"/>
        </dgm:presLayoutVars>
      </dgm:prSet>
      <dgm:spPr/>
    </dgm:pt>
    <dgm:pt modelId="{840FAD42-2799-400E-9102-8F1FDDD3F610}" type="pres">
      <dgm:prSet presAssocID="{36D81B87-3215-4478-A78C-C8BFFEEF52D8}" presName="compNode" presStyleCnt="0"/>
      <dgm:spPr/>
    </dgm:pt>
    <dgm:pt modelId="{3A492F54-5E79-4B83-93A5-771654E3397D}" type="pres">
      <dgm:prSet presAssocID="{36D81B87-3215-4478-A78C-C8BFFEEF52D8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893281C-B552-4003-B885-129EDAF8E863}" type="pres">
      <dgm:prSet presAssocID="{36D81B87-3215-4478-A78C-C8BFFEEF52D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07E6B6DC-A981-4429-8008-27AFA1C8477B}" type="pres">
      <dgm:prSet presAssocID="{36D81B87-3215-4478-A78C-C8BFFEEF52D8}" presName="spaceRect" presStyleCnt="0"/>
      <dgm:spPr/>
    </dgm:pt>
    <dgm:pt modelId="{F4A0B631-C24B-47FE-9D09-7D45B6EDFC25}" type="pres">
      <dgm:prSet presAssocID="{36D81B87-3215-4478-A78C-C8BFFEEF52D8}" presName="textRect" presStyleLbl="revTx" presStyleIdx="0" presStyleCnt="3">
        <dgm:presLayoutVars>
          <dgm:chMax val="1"/>
          <dgm:chPref val="1"/>
        </dgm:presLayoutVars>
      </dgm:prSet>
      <dgm:spPr/>
    </dgm:pt>
    <dgm:pt modelId="{134DDCAE-468B-402A-BBB5-0B3620C75AF1}" type="pres">
      <dgm:prSet presAssocID="{E56690B0-9C48-48D4-A29B-A022C4AAF021}" presName="sibTrans" presStyleCnt="0"/>
      <dgm:spPr/>
    </dgm:pt>
    <dgm:pt modelId="{75531D30-7578-47F1-9172-4D9C1B2A7452}" type="pres">
      <dgm:prSet presAssocID="{8AC54FAD-0A05-42C4-AF61-96BFE43CB2AA}" presName="compNode" presStyleCnt="0"/>
      <dgm:spPr/>
    </dgm:pt>
    <dgm:pt modelId="{F04621EB-908B-416B-B4D7-6912D88D8EF3}" type="pres">
      <dgm:prSet presAssocID="{8AC54FAD-0A05-42C4-AF61-96BFE43CB2AA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AD3E213-EDFC-4414-BA7B-A71724D7D940}" type="pres">
      <dgm:prSet presAssocID="{8AC54FAD-0A05-42C4-AF61-96BFE43CB2A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142705C2-157F-4765-A59D-7B26AE81557C}" type="pres">
      <dgm:prSet presAssocID="{8AC54FAD-0A05-42C4-AF61-96BFE43CB2AA}" presName="spaceRect" presStyleCnt="0"/>
      <dgm:spPr/>
    </dgm:pt>
    <dgm:pt modelId="{E09E423F-6940-4E86-815D-C7650446B62B}" type="pres">
      <dgm:prSet presAssocID="{8AC54FAD-0A05-42C4-AF61-96BFE43CB2AA}" presName="textRect" presStyleLbl="revTx" presStyleIdx="1" presStyleCnt="3">
        <dgm:presLayoutVars>
          <dgm:chMax val="1"/>
          <dgm:chPref val="1"/>
        </dgm:presLayoutVars>
      </dgm:prSet>
      <dgm:spPr/>
    </dgm:pt>
    <dgm:pt modelId="{29CD65FC-BF95-4171-B0BC-36E31648C4B7}" type="pres">
      <dgm:prSet presAssocID="{869BBF20-113C-47BB-81B2-328FFE46A56E}" presName="sibTrans" presStyleCnt="0"/>
      <dgm:spPr/>
    </dgm:pt>
    <dgm:pt modelId="{1ABF7B41-08E9-411A-8F0B-6A3FF29ACEC0}" type="pres">
      <dgm:prSet presAssocID="{EB3D12E3-C12C-4A74-8C4B-EA2191357961}" presName="compNode" presStyleCnt="0"/>
      <dgm:spPr/>
    </dgm:pt>
    <dgm:pt modelId="{85E0796C-D85D-4065-AFB8-6D66EC2DBF87}" type="pres">
      <dgm:prSet presAssocID="{EB3D12E3-C12C-4A74-8C4B-EA2191357961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A27E26C-A784-4908-8C54-D849B10CD2BE}" type="pres">
      <dgm:prSet presAssocID="{EB3D12E3-C12C-4A74-8C4B-EA21913579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5814C8E9-9262-4E62-BA13-DF9E3B2D0767}" type="pres">
      <dgm:prSet presAssocID="{EB3D12E3-C12C-4A74-8C4B-EA2191357961}" presName="spaceRect" presStyleCnt="0"/>
      <dgm:spPr/>
    </dgm:pt>
    <dgm:pt modelId="{F7DB9F8C-1B66-4F82-9AD0-C4E21E399C8E}" type="pres">
      <dgm:prSet presAssocID="{EB3D12E3-C12C-4A74-8C4B-EA219135796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FE53A12-63FE-4DEF-B8C5-818E72BC9599}" srcId="{01FBFE2B-F6AF-4990-8A2A-394A8F98F481}" destId="{EB3D12E3-C12C-4A74-8C4B-EA2191357961}" srcOrd="2" destOrd="0" parTransId="{BAC17CE5-9E94-4D5B-B1C0-34A96ABFA049}" sibTransId="{347F3934-71F6-48CA-BE0A-AF91EDD6BCB5}"/>
    <dgm:cxn modelId="{BA308318-A54D-4CA2-8493-3C110AF11DDE}" srcId="{01FBFE2B-F6AF-4990-8A2A-394A8F98F481}" destId="{8AC54FAD-0A05-42C4-AF61-96BFE43CB2AA}" srcOrd="1" destOrd="0" parTransId="{8E2467CB-F80C-4C60-9574-679A1A60F475}" sibTransId="{869BBF20-113C-47BB-81B2-328FFE46A56E}"/>
    <dgm:cxn modelId="{59EBCD28-F22E-46A9-B14A-9E40133DAD3F}" type="presOf" srcId="{01FBFE2B-F6AF-4990-8A2A-394A8F98F481}" destId="{2612B677-C27F-41E2-9C96-518AA5501E03}" srcOrd="0" destOrd="0" presId="urn:microsoft.com/office/officeart/2018/5/layout/IconLeafLabelList"/>
    <dgm:cxn modelId="{21FF1938-25C6-40A9-810E-B936CB3ACB61}" type="presOf" srcId="{36D81B87-3215-4478-A78C-C8BFFEEF52D8}" destId="{F4A0B631-C24B-47FE-9D09-7D45B6EDFC25}" srcOrd="0" destOrd="0" presId="urn:microsoft.com/office/officeart/2018/5/layout/IconLeafLabelList"/>
    <dgm:cxn modelId="{19B6EB65-0A54-40BF-B6A1-C1C2B53006A4}" type="presOf" srcId="{EB3D12E3-C12C-4A74-8C4B-EA2191357961}" destId="{F7DB9F8C-1B66-4F82-9AD0-C4E21E399C8E}" srcOrd="0" destOrd="0" presId="urn:microsoft.com/office/officeart/2018/5/layout/IconLeafLabelList"/>
    <dgm:cxn modelId="{58D9ED93-BC3E-484C-9208-F3C55AF61268}" srcId="{01FBFE2B-F6AF-4990-8A2A-394A8F98F481}" destId="{36D81B87-3215-4478-A78C-C8BFFEEF52D8}" srcOrd="0" destOrd="0" parTransId="{6207565C-DB90-4395-8F73-82AE00C1761E}" sibTransId="{E56690B0-9C48-48D4-A29B-A022C4AAF021}"/>
    <dgm:cxn modelId="{34D00397-0129-4B2A-A69C-5F8C342E22C0}" type="presOf" srcId="{8AC54FAD-0A05-42C4-AF61-96BFE43CB2AA}" destId="{E09E423F-6940-4E86-815D-C7650446B62B}" srcOrd="0" destOrd="0" presId="urn:microsoft.com/office/officeart/2018/5/layout/IconLeafLabelList"/>
    <dgm:cxn modelId="{95CF9AC5-A6C7-4894-9E3A-651E9495F1E6}" type="presParOf" srcId="{2612B677-C27F-41E2-9C96-518AA5501E03}" destId="{840FAD42-2799-400E-9102-8F1FDDD3F610}" srcOrd="0" destOrd="0" presId="urn:microsoft.com/office/officeart/2018/5/layout/IconLeafLabelList"/>
    <dgm:cxn modelId="{A416556B-E40C-4456-87AE-11A99C9F8856}" type="presParOf" srcId="{840FAD42-2799-400E-9102-8F1FDDD3F610}" destId="{3A492F54-5E79-4B83-93A5-771654E3397D}" srcOrd="0" destOrd="0" presId="urn:microsoft.com/office/officeart/2018/5/layout/IconLeafLabelList"/>
    <dgm:cxn modelId="{DABC0518-9A0E-4511-8B7A-5D1C015AAAB9}" type="presParOf" srcId="{840FAD42-2799-400E-9102-8F1FDDD3F610}" destId="{4893281C-B552-4003-B885-129EDAF8E863}" srcOrd="1" destOrd="0" presId="urn:microsoft.com/office/officeart/2018/5/layout/IconLeafLabelList"/>
    <dgm:cxn modelId="{9DBEEA1C-7E23-44B5-8B4D-98324A898E77}" type="presParOf" srcId="{840FAD42-2799-400E-9102-8F1FDDD3F610}" destId="{07E6B6DC-A981-4429-8008-27AFA1C8477B}" srcOrd="2" destOrd="0" presId="urn:microsoft.com/office/officeart/2018/5/layout/IconLeafLabelList"/>
    <dgm:cxn modelId="{89FDE8B5-EE4E-4DDC-B7FA-2CFEE3B39D33}" type="presParOf" srcId="{840FAD42-2799-400E-9102-8F1FDDD3F610}" destId="{F4A0B631-C24B-47FE-9D09-7D45B6EDFC25}" srcOrd="3" destOrd="0" presId="urn:microsoft.com/office/officeart/2018/5/layout/IconLeafLabelList"/>
    <dgm:cxn modelId="{E67485CA-9FE7-43E1-A3CA-AACA9ACB9D6F}" type="presParOf" srcId="{2612B677-C27F-41E2-9C96-518AA5501E03}" destId="{134DDCAE-468B-402A-BBB5-0B3620C75AF1}" srcOrd="1" destOrd="0" presId="urn:microsoft.com/office/officeart/2018/5/layout/IconLeafLabelList"/>
    <dgm:cxn modelId="{FA8E6A4F-1983-43E8-B258-156B39454FF8}" type="presParOf" srcId="{2612B677-C27F-41E2-9C96-518AA5501E03}" destId="{75531D30-7578-47F1-9172-4D9C1B2A7452}" srcOrd="2" destOrd="0" presId="urn:microsoft.com/office/officeart/2018/5/layout/IconLeafLabelList"/>
    <dgm:cxn modelId="{278A9CBB-A269-4CD8-BB48-694C6307B66A}" type="presParOf" srcId="{75531D30-7578-47F1-9172-4D9C1B2A7452}" destId="{F04621EB-908B-416B-B4D7-6912D88D8EF3}" srcOrd="0" destOrd="0" presId="urn:microsoft.com/office/officeart/2018/5/layout/IconLeafLabelList"/>
    <dgm:cxn modelId="{804E2FF3-528D-4B8B-9095-0BB5EAA3909C}" type="presParOf" srcId="{75531D30-7578-47F1-9172-4D9C1B2A7452}" destId="{0AD3E213-EDFC-4414-BA7B-A71724D7D940}" srcOrd="1" destOrd="0" presId="urn:microsoft.com/office/officeart/2018/5/layout/IconLeafLabelList"/>
    <dgm:cxn modelId="{08B8C6E7-D93F-4408-BC34-A4B7B27365AF}" type="presParOf" srcId="{75531D30-7578-47F1-9172-4D9C1B2A7452}" destId="{142705C2-157F-4765-A59D-7B26AE81557C}" srcOrd="2" destOrd="0" presId="urn:microsoft.com/office/officeart/2018/5/layout/IconLeafLabelList"/>
    <dgm:cxn modelId="{3BC684A2-7CDC-4A08-BB9B-47DCEAEE446F}" type="presParOf" srcId="{75531D30-7578-47F1-9172-4D9C1B2A7452}" destId="{E09E423F-6940-4E86-815D-C7650446B62B}" srcOrd="3" destOrd="0" presId="urn:microsoft.com/office/officeart/2018/5/layout/IconLeafLabelList"/>
    <dgm:cxn modelId="{024F9026-0EEA-4225-A625-60AA4D279BD4}" type="presParOf" srcId="{2612B677-C27F-41E2-9C96-518AA5501E03}" destId="{29CD65FC-BF95-4171-B0BC-36E31648C4B7}" srcOrd="3" destOrd="0" presId="urn:microsoft.com/office/officeart/2018/5/layout/IconLeafLabelList"/>
    <dgm:cxn modelId="{88F8C559-D637-4F98-9B6E-2DCFBF1FA27E}" type="presParOf" srcId="{2612B677-C27F-41E2-9C96-518AA5501E03}" destId="{1ABF7B41-08E9-411A-8F0B-6A3FF29ACEC0}" srcOrd="4" destOrd="0" presId="urn:microsoft.com/office/officeart/2018/5/layout/IconLeafLabelList"/>
    <dgm:cxn modelId="{54941963-42A6-4317-B12E-D3CFB6793228}" type="presParOf" srcId="{1ABF7B41-08E9-411A-8F0B-6A3FF29ACEC0}" destId="{85E0796C-D85D-4065-AFB8-6D66EC2DBF87}" srcOrd="0" destOrd="0" presId="urn:microsoft.com/office/officeart/2018/5/layout/IconLeafLabelList"/>
    <dgm:cxn modelId="{B0E3581D-53BB-49E9-A40E-F022C94998A8}" type="presParOf" srcId="{1ABF7B41-08E9-411A-8F0B-6A3FF29ACEC0}" destId="{6A27E26C-A784-4908-8C54-D849B10CD2BE}" srcOrd="1" destOrd="0" presId="urn:microsoft.com/office/officeart/2018/5/layout/IconLeafLabelList"/>
    <dgm:cxn modelId="{586432ED-AF81-4202-95D6-191B29805EA2}" type="presParOf" srcId="{1ABF7B41-08E9-411A-8F0B-6A3FF29ACEC0}" destId="{5814C8E9-9262-4E62-BA13-DF9E3B2D0767}" srcOrd="2" destOrd="0" presId="urn:microsoft.com/office/officeart/2018/5/layout/IconLeafLabelList"/>
    <dgm:cxn modelId="{55581FFA-293A-46E6-BAEB-4EA6D041B09C}" type="presParOf" srcId="{1ABF7B41-08E9-411A-8F0B-6A3FF29ACEC0}" destId="{F7DB9F8C-1B66-4F82-9AD0-C4E21E399C8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36124C-C350-497C-8244-A30C4432520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BFD44AC-EE77-48A3-A040-046A97D8A323}">
      <dgm:prSet/>
      <dgm:spPr/>
      <dgm:t>
        <a:bodyPr/>
        <a:lstStyle/>
        <a:p>
          <a:r>
            <a:rPr lang="en-US"/>
            <a:t>Source: World Bank Data Bank</a:t>
          </a:r>
        </a:p>
      </dgm:t>
    </dgm:pt>
    <dgm:pt modelId="{4175C41C-42C7-449D-95A0-F39FB5222694}" type="parTrans" cxnId="{EA40672A-E69E-4286-80D1-1A0FF9A4FDD7}">
      <dgm:prSet/>
      <dgm:spPr/>
      <dgm:t>
        <a:bodyPr/>
        <a:lstStyle/>
        <a:p>
          <a:endParaRPr lang="en-US"/>
        </a:p>
      </dgm:t>
    </dgm:pt>
    <dgm:pt modelId="{20578248-3983-43D7-942E-5DD0E571A717}" type="sibTrans" cxnId="{EA40672A-E69E-4286-80D1-1A0FF9A4FDD7}">
      <dgm:prSet/>
      <dgm:spPr/>
      <dgm:t>
        <a:bodyPr/>
        <a:lstStyle/>
        <a:p>
          <a:endParaRPr lang="en-US"/>
        </a:p>
      </dgm:t>
    </dgm:pt>
    <dgm:pt modelId="{3DDD876C-3494-4E57-8C7B-706FCE0CAB60}">
      <dgm:prSet/>
      <dgm:spPr/>
      <dgm:t>
        <a:bodyPr/>
        <a:lstStyle/>
        <a:p>
          <a:r>
            <a:rPr lang="en-US"/>
            <a:t>Dependent variable (DV): GDP per-capita growth (Δ log).</a:t>
          </a:r>
        </a:p>
      </dgm:t>
    </dgm:pt>
    <dgm:pt modelId="{9FE742ED-6FD5-4A02-B7B2-36CCE98AF7D6}" type="parTrans" cxnId="{2999228B-757B-416F-98C5-52F73400AFA4}">
      <dgm:prSet/>
      <dgm:spPr/>
      <dgm:t>
        <a:bodyPr/>
        <a:lstStyle/>
        <a:p>
          <a:endParaRPr lang="en-US"/>
        </a:p>
      </dgm:t>
    </dgm:pt>
    <dgm:pt modelId="{9F080749-A23A-4EEA-A116-E24E420358DF}" type="sibTrans" cxnId="{2999228B-757B-416F-98C5-52F73400AFA4}">
      <dgm:prSet/>
      <dgm:spPr/>
      <dgm:t>
        <a:bodyPr/>
        <a:lstStyle/>
        <a:p>
          <a:endParaRPr lang="en-US"/>
        </a:p>
      </dgm:t>
    </dgm:pt>
    <dgm:pt modelId="{30A07A43-8FC4-4F46-8B2F-C58557FEE672}">
      <dgm:prSet/>
      <dgm:spPr/>
      <dgm:t>
        <a:bodyPr/>
        <a:lstStyle/>
        <a:p>
          <a:r>
            <a:rPr lang="en-US"/>
            <a:t>Key independent variables: Population growth; Strength of legal rights (0–12); FDI net inflows (% GDP).</a:t>
          </a:r>
        </a:p>
      </dgm:t>
    </dgm:pt>
    <dgm:pt modelId="{ACE432E9-095A-4270-9237-0E897204672D}" type="parTrans" cxnId="{BCCF115A-4850-464D-BBE4-79B38C692EB0}">
      <dgm:prSet/>
      <dgm:spPr/>
      <dgm:t>
        <a:bodyPr/>
        <a:lstStyle/>
        <a:p>
          <a:endParaRPr lang="en-US"/>
        </a:p>
      </dgm:t>
    </dgm:pt>
    <dgm:pt modelId="{DFE36309-7A27-4AEF-BD56-E39712B24F0A}" type="sibTrans" cxnId="{BCCF115A-4850-464D-BBE4-79B38C692EB0}">
      <dgm:prSet/>
      <dgm:spPr/>
      <dgm:t>
        <a:bodyPr/>
        <a:lstStyle/>
        <a:p>
          <a:endParaRPr lang="en-US"/>
        </a:p>
      </dgm:t>
    </dgm:pt>
    <dgm:pt modelId="{161165DB-FDE0-40DC-ACBF-07C6D3F777E7}">
      <dgm:prSet/>
      <dgm:spPr/>
      <dgm:t>
        <a:bodyPr/>
        <a:lstStyle/>
        <a:p>
          <a:r>
            <a:rPr lang="en-US"/>
            <a:t>Controls: Gini (inequality), education spending, gross capital formation, savings, life expectancy, age dependency, infant mortality.</a:t>
          </a:r>
        </a:p>
      </dgm:t>
    </dgm:pt>
    <dgm:pt modelId="{BFF63465-0E8F-4B83-92A4-36C0AB0005FA}" type="parTrans" cxnId="{52A0086F-7EF5-4B02-AE95-1D8B6DA05A13}">
      <dgm:prSet/>
      <dgm:spPr/>
      <dgm:t>
        <a:bodyPr/>
        <a:lstStyle/>
        <a:p>
          <a:endParaRPr lang="en-US"/>
        </a:p>
      </dgm:t>
    </dgm:pt>
    <dgm:pt modelId="{1A2E19BF-80E0-4A39-BA77-ECF3181E7C9A}" type="sibTrans" cxnId="{52A0086F-7EF5-4B02-AE95-1D8B6DA05A13}">
      <dgm:prSet/>
      <dgm:spPr/>
      <dgm:t>
        <a:bodyPr/>
        <a:lstStyle/>
        <a:p>
          <a:endParaRPr lang="en-US"/>
        </a:p>
      </dgm:t>
    </dgm:pt>
    <dgm:pt modelId="{B7590D43-B1F2-46AC-9464-09BC2D3597AA}" type="pres">
      <dgm:prSet presAssocID="{2C36124C-C350-497C-8244-A30C4432520E}" presName="root" presStyleCnt="0">
        <dgm:presLayoutVars>
          <dgm:dir/>
          <dgm:resizeHandles val="exact"/>
        </dgm:presLayoutVars>
      </dgm:prSet>
      <dgm:spPr/>
    </dgm:pt>
    <dgm:pt modelId="{449918D0-24B7-4BE6-9735-1407A9C68817}" type="pres">
      <dgm:prSet presAssocID="{CBFD44AC-EE77-48A3-A040-046A97D8A323}" presName="compNode" presStyleCnt="0"/>
      <dgm:spPr/>
    </dgm:pt>
    <dgm:pt modelId="{611E0490-B261-4F72-9E56-14B32D866795}" type="pres">
      <dgm:prSet presAssocID="{CBFD44AC-EE77-48A3-A040-046A97D8A32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67AB696B-1BF4-4C78-A6E0-A5471E7026C1}" type="pres">
      <dgm:prSet presAssocID="{CBFD44AC-EE77-48A3-A040-046A97D8A323}" presName="spaceRect" presStyleCnt="0"/>
      <dgm:spPr/>
    </dgm:pt>
    <dgm:pt modelId="{FF841B5C-0F9C-4EBE-8E34-29DD048E45DB}" type="pres">
      <dgm:prSet presAssocID="{CBFD44AC-EE77-48A3-A040-046A97D8A323}" presName="textRect" presStyleLbl="revTx" presStyleIdx="0" presStyleCnt="4">
        <dgm:presLayoutVars>
          <dgm:chMax val="1"/>
          <dgm:chPref val="1"/>
        </dgm:presLayoutVars>
      </dgm:prSet>
      <dgm:spPr/>
    </dgm:pt>
    <dgm:pt modelId="{FB09A870-6FBB-4D2C-B435-BC41AA9C5D81}" type="pres">
      <dgm:prSet presAssocID="{20578248-3983-43D7-942E-5DD0E571A717}" presName="sibTrans" presStyleCnt="0"/>
      <dgm:spPr/>
    </dgm:pt>
    <dgm:pt modelId="{BE30E3BC-D36D-48FA-BA15-39E610425A79}" type="pres">
      <dgm:prSet presAssocID="{3DDD876C-3494-4E57-8C7B-706FCE0CAB60}" presName="compNode" presStyleCnt="0"/>
      <dgm:spPr/>
    </dgm:pt>
    <dgm:pt modelId="{BCFD824F-7A77-46B1-AE1A-042CDD827AFA}" type="pres">
      <dgm:prSet presAssocID="{3DDD876C-3494-4E57-8C7B-706FCE0CAB6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387AA05F-2659-47A9-BECA-05567194065A}" type="pres">
      <dgm:prSet presAssocID="{3DDD876C-3494-4E57-8C7B-706FCE0CAB60}" presName="spaceRect" presStyleCnt="0"/>
      <dgm:spPr/>
    </dgm:pt>
    <dgm:pt modelId="{81B3FC58-3510-44C5-8A06-3F87616EFC5A}" type="pres">
      <dgm:prSet presAssocID="{3DDD876C-3494-4E57-8C7B-706FCE0CAB60}" presName="textRect" presStyleLbl="revTx" presStyleIdx="1" presStyleCnt="4">
        <dgm:presLayoutVars>
          <dgm:chMax val="1"/>
          <dgm:chPref val="1"/>
        </dgm:presLayoutVars>
      </dgm:prSet>
      <dgm:spPr/>
    </dgm:pt>
    <dgm:pt modelId="{9BA83607-D878-421B-971A-8A47A61646EB}" type="pres">
      <dgm:prSet presAssocID="{9F080749-A23A-4EEA-A116-E24E420358DF}" presName="sibTrans" presStyleCnt="0"/>
      <dgm:spPr/>
    </dgm:pt>
    <dgm:pt modelId="{9B25010F-1557-46AA-A6B4-FE6541729961}" type="pres">
      <dgm:prSet presAssocID="{30A07A43-8FC4-4F46-8B2F-C58557FEE672}" presName="compNode" presStyleCnt="0"/>
      <dgm:spPr/>
    </dgm:pt>
    <dgm:pt modelId="{46C58974-EC6C-4335-A6B1-DCFF3E1FA6D9}" type="pres">
      <dgm:prSet presAssocID="{30A07A43-8FC4-4F46-8B2F-C58557FEE67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827FF436-3CEF-445B-9640-0104EDCE793F}" type="pres">
      <dgm:prSet presAssocID="{30A07A43-8FC4-4F46-8B2F-C58557FEE672}" presName="spaceRect" presStyleCnt="0"/>
      <dgm:spPr/>
    </dgm:pt>
    <dgm:pt modelId="{662D4BD2-92D1-4C26-9929-44940F6EDC5D}" type="pres">
      <dgm:prSet presAssocID="{30A07A43-8FC4-4F46-8B2F-C58557FEE672}" presName="textRect" presStyleLbl="revTx" presStyleIdx="2" presStyleCnt="4">
        <dgm:presLayoutVars>
          <dgm:chMax val="1"/>
          <dgm:chPref val="1"/>
        </dgm:presLayoutVars>
      </dgm:prSet>
      <dgm:spPr/>
    </dgm:pt>
    <dgm:pt modelId="{E3420441-E2CA-4E44-BA98-3FF295D591B3}" type="pres">
      <dgm:prSet presAssocID="{DFE36309-7A27-4AEF-BD56-E39712B24F0A}" presName="sibTrans" presStyleCnt="0"/>
      <dgm:spPr/>
    </dgm:pt>
    <dgm:pt modelId="{A09C0F43-BD91-422D-87A4-162E6E91C12F}" type="pres">
      <dgm:prSet presAssocID="{161165DB-FDE0-40DC-ACBF-07C6D3F777E7}" presName="compNode" presStyleCnt="0"/>
      <dgm:spPr/>
    </dgm:pt>
    <dgm:pt modelId="{106D2502-B816-4FF9-AD1E-CCEA7DE8B8B4}" type="pres">
      <dgm:prSet presAssocID="{161165DB-FDE0-40DC-ACBF-07C6D3F777E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31B1E9F7-C2CD-4D4F-8E97-CAAA9DEF3850}" type="pres">
      <dgm:prSet presAssocID="{161165DB-FDE0-40DC-ACBF-07C6D3F777E7}" presName="spaceRect" presStyleCnt="0"/>
      <dgm:spPr/>
    </dgm:pt>
    <dgm:pt modelId="{B3AB3350-9BF3-4ACC-9529-963BCF5454EC}" type="pres">
      <dgm:prSet presAssocID="{161165DB-FDE0-40DC-ACBF-07C6D3F777E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A40672A-E69E-4286-80D1-1A0FF9A4FDD7}" srcId="{2C36124C-C350-497C-8244-A30C4432520E}" destId="{CBFD44AC-EE77-48A3-A040-046A97D8A323}" srcOrd="0" destOrd="0" parTransId="{4175C41C-42C7-449D-95A0-F39FB5222694}" sibTransId="{20578248-3983-43D7-942E-5DD0E571A717}"/>
    <dgm:cxn modelId="{5E6ECF3B-F321-4F10-AB8B-4A89D4FA6356}" type="presOf" srcId="{161165DB-FDE0-40DC-ACBF-07C6D3F777E7}" destId="{B3AB3350-9BF3-4ACC-9529-963BCF5454EC}" srcOrd="0" destOrd="0" presId="urn:microsoft.com/office/officeart/2018/2/layout/IconLabelList"/>
    <dgm:cxn modelId="{52A0086F-7EF5-4B02-AE95-1D8B6DA05A13}" srcId="{2C36124C-C350-497C-8244-A30C4432520E}" destId="{161165DB-FDE0-40DC-ACBF-07C6D3F777E7}" srcOrd="3" destOrd="0" parTransId="{BFF63465-0E8F-4B83-92A4-36C0AB0005FA}" sibTransId="{1A2E19BF-80E0-4A39-BA77-ECF3181E7C9A}"/>
    <dgm:cxn modelId="{BCCF115A-4850-464D-BBE4-79B38C692EB0}" srcId="{2C36124C-C350-497C-8244-A30C4432520E}" destId="{30A07A43-8FC4-4F46-8B2F-C58557FEE672}" srcOrd="2" destOrd="0" parTransId="{ACE432E9-095A-4270-9237-0E897204672D}" sibTransId="{DFE36309-7A27-4AEF-BD56-E39712B24F0A}"/>
    <dgm:cxn modelId="{2999228B-757B-416F-98C5-52F73400AFA4}" srcId="{2C36124C-C350-497C-8244-A30C4432520E}" destId="{3DDD876C-3494-4E57-8C7B-706FCE0CAB60}" srcOrd="1" destOrd="0" parTransId="{9FE742ED-6FD5-4A02-B7B2-36CCE98AF7D6}" sibTransId="{9F080749-A23A-4EEA-A116-E24E420358DF}"/>
    <dgm:cxn modelId="{64E22694-29FE-47FF-8549-D3279444F573}" type="presOf" srcId="{3DDD876C-3494-4E57-8C7B-706FCE0CAB60}" destId="{81B3FC58-3510-44C5-8A06-3F87616EFC5A}" srcOrd="0" destOrd="0" presId="urn:microsoft.com/office/officeart/2018/2/layout/IconLabelList"/>
    <dgm:cxn modelId="{F3D4EEA6-90BC-4633-860D-41AF6B34356B}" type="presOf" srcId="{2C36124C-C350-497C-8244-A30C4432520E}" destId="{B7590D43-B1F2-46AC-9464-09BC2D3597AA}" srcOrd="0" destOrd="0" presId="urn:microsoft.com/office/officeart/2018/2/layout/IconLabelList"/>
    <dgm:cxn modelId="{6555BDAC-E952-4E04-B454-9C14933CFBA7}" type="presOf" srcId="{30A07A43-8FC4-4F46-8B2F-C58557FEE672}" destId="{662D4BD2-92D1-4C26-9929-44940F6EDC5D}" srcOrd="0" destOrd="0" presId="urn:microsoft.com/office/officeart/2018/2/layout/IconLabelList"/>
    <dgm:cxn modelId="{F95104E5-83A3-4339-8F9B-B2EDC4BA8C3E}" type="presOf" srcId="{CBFD44AC-EE77-48A3-A040-046A97D8A323}" destId="{FF841B5C-0F9C-4EBE-8E34-29DD048E45DB}" srcOrd="0" destOrd="0" presId="urn:microsoft.com/office/officeart/2018/2/layout/IconLabelList"/>
    <dgm:cxn modelId="{B4132870-56F7-4666-A21D-46A15B810AEA}" type="presParOf" srcId="{B7590D43-B1F2-46AC-9464-09BC2D3597AA}" destId="{449918D0-24B7-4BE6-9735-1407A9C68817}" srcOrd="0" destOrd="0" presId="urn:microsoft.com/office/officeart/2018/2/layout/IconLabelList"/>
    <dgm:cxn modelId="{203EE45F-300A-4091-8454-0ABD42D72300}" type="presParOf" srcId="{449918D0-24B7-4BE6-9735-1407A9C68817}" destId="{611E0490-B261-4F72-9E56-14B32D866795}" srcOrd="0" destOrd="0" presId="urn:microsoft.com/office/officeart/2018/2/layout/IconLabelList"/>
    <dgm:cxn modelId="{D136AFF7-7CF3-4B24-B2FE-73C68C85D071}" type="presParOf" srcId="{449918D0-24B7-4BE6-9735-1407A9C68817}" destId="{67AB696B-1BF4-4C78-A6E0-A5471E7026C1}" srcOrd="1" destOrd="0" presId="urn:microsoft.com/office/officeart/2018/2/layout/IconLabelList"/>
    <dgm:cxn modelId="{03B05B11-29F0-4E31-9BCA-DFE5E855A532}" type="presParOf" srcId="{449918D0-24B7-4BE6-9735-1407A9C68817}" destId="{FF841B5C-0F9C-4EBE-8E34-29DD048E45DB}" srcOrd="2" destOrd="0" presId="urn:microsoft.com/office/officeart/2018/2/layout/IconLabelList"/>
    <dgm:cxn modelId="{775751DF-2978-439B-83DD-15267D5F1E11}" type="presParOf" srcId="{B7590D43-B1F2-46AC-9464-09BC2D3597AA}" destId="{FB09A870-6FBB-4D2C-B435-BC41AA9C5D81}" srcOrd="1" destOrd="0" presId="urn:microsoft.com/office/officeart/2018/2/layout/IconLabelList"/>
    <dgm:cxn modelId="{62B791C9-9E97-4627-9F82-97ACA00F4E3C}" type="presParOf" srcId="{B7590D43-B1F2-46AC-9464-09BC2D3597AA}" destId="{BE30E3BC-D36D-48FA-BA15-39E610425A79}" srcOrd="2" destOrd="0" presId="urn:microsoft.com/office/officeart/2018/2/layout/IconLabelList"/>
    <dgm:cxn modelId="{7184476C-E8BE-4A21-AA40-D7220FA2863B}" type="presParOf" srcId="{BE30E3BC-D36D-48FA-BA15-39E610425A79}" destId="{BCFD824F-7A77-46B1-AE1A-042CDD827AFA}" srcOrd="0" destOrd="0" presId="urn:microsoft.com/office/officeart/2018/2/layout/IconLabelList"/>
    <dgm:cxn modelId="{77E20798-E4AD-4728-A15A-4AE0E70BB9F6}" type="presParOf" srcId="{BE30E3BC-D36D-48FA-BA15-39E610425A79}" destId="{387AA05F-2659-47A9-BECA-05567194065A}" srcOrd="1" destOrd="0" presId="urn:microsoft.com/office/officeart/2018/2/layout/IconLabelList"/>
    <dgm:cxn modelId="{B16D6304-D42F-43DC-A832-92000382D36F}" type="presParOf" srcId="{BE30E3BC-D36D-48FA-BA15-39E610425A79}" destId="{81B3FC58-3510-44C5-8A06-3F87616EFC5A}" srcOrd="2" destOrd="0" presId="urn:microsoft.com/office/officeart/2018/2/layout/IconLabelList"/>
    <dgm:cxn modelId="{E0F60558-AC99-40E5-A550-17296D24B781}" type="presParOf" srcId="{B7590D43-B1F2-46AC-9464-09BC2D3597AA}" destId="{9BA83607-D878-421B-971A-8A47A61646EB}" srcOrd="3" destOrd="0" presId="urn:microsoft.com/office/officeart/2018/2/layout/IconLabelList"/>
    <dgm:cxn modelId="{76A9757B-8E0F-4E13-93AD-E4F18B9FC6AB}" type="presParOf" srcId="{B7590D43-B1F2-46AC-9464-09BC2D3597AA}" destId="{9B25010F-1557-46AA-A6B4-FE6541729961}" srcOrd="4" destOrd="0" presId="urn:microsoft.com/office/officeart/2018/2/layout/IconLabelList"/>
    <dgm:cxn modelId="{1F6FD509-5398-46F8-9B6C-379BD3291C33}" type="presParOf" srcId="{9B25010F-1557-46AA-A6B4-FE6541729961}" destId="{46C58974-EC6C-4335-A6B1-DCFF3E1FA6D9}" srcOrd="0" destOrd="0" presId="urn:microsoft.com/office/officeart/2018/2/layout/IconLabelList"/>
    <dgm:cxn modelId="{BA316BFA-F2BA-4C29-B0DF-675178BFD5D0}" type="presParOf" srcId="{9B25010F-1557-46AA-A6B4-FE6541729961}" destId="{827FF436-3CEF-445B-9640-0104EDCE793F}" srcOrd="1" destOrd="0" presId="urn:microsoft.com/office/officeart/2018/2/layout/IconLabelList"/>
    <dgm:cxn modelId="{CB3354E0-7C22-469C-945C-9659BEB72721}" type="presParOf" srcId="{9B25010F-1557-46AA-A6B4-FE6541729961}" destId="{662D4BD2-92D1-4C26-9929-44940F6EDC5D}" srcOrd="2" destOrd="0" presId="urn:microsoft.com/office/officeart/2018/2/layout/IconLabelList"/>
    <dgm:cxn modelId="{4442A1EA-4259-4AF3-997A-09EDCD548D62}" type="presParOf" srcId="{B7590D43-B1F2-46AC-9464-09BC2D3597AA}" destId="{E3420441-E2CA-4E44-BA98-3FF295D591B3}" srcOrd="5" destOrd="0" presId="urn:microsoft.com/office/officeart/2018/2/layout/IconLabelList"/>
    <dgm:cxn modelId="{BC853C6D-C628-4560-8ED4-1359281E49B9}" type="presParOf" srcId="{B7590D43-B1F2-46AC-9464-09BC2D3597AA}" destId="{A09C0F43-BD91-422D-87A4-162E6E91C12F}" srcOrd="6" destOrd="0" presId="urn:microsoft.com/office/officeart/2018/2/layout/IconLabelList"/>
    <dgm:cxn modelId="{16039F3D-9B7F-4ED1-BBDF-C084EF65B9BE}" type="presParOf" srcId="{A09C0F43-BD91-422D-87A4-162E6E91C12F}" destId="{106D2502-B816-4FF9-AD1E-CCEA7DE8B8B4}" srcOrd="0" destOrd="0" presId="urn:microsoft.com/office/officeart/2018/2/layout/IconLabelList"/>
    <dgm:cxn modelId="{D7DA119E-1536-4EA7-8D46-BBB86D2C0264}" type="presParOf" srcId="{A09C0F43-BD91-422D-87A4-162E6E91C12F}" destId="{31B1E9F7-C2CD-4D4F-8E97-CAAA9DEF3850}" srcOrd="1" destOrd="0" presId="urn:microsoft.com/office/officeart/2018/2/layout/IconLabelList"/>
    <dgm:cxn modelId="{85392580-89C9-47A6-A234-045299D4CC15}" type="presParOf" srcId="{A09C0F43-BD91-422D-87A4-162E6E91C12F}" destId="{B3AB3350-9BF3-4ACC-9529-963BCF5454E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775C8E-05D9-4C23-AC05-8D1BA5CD0D5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1A5E726-47AE-45B7-9388-D14A33F4A7E1}">
      <dgm:prSet/>
      <dgm:spPr/>
      <dgm:t>
        <a:bodyPr/>
        <a:lstStyle/>
        <a:p>
          <a:r>
            <a:rPr lang="en-US"/>
            <a:t>OLS with robust (HC) standard errors; sequential specifications:</a:t>
          </a:r>
        </a:p>
      </dgm:t>
    </dgm:pt>
    <dgm:pt modelId="{903D403F-B9E9-40FD-972B-755DC51BEE5F}" type="parTrans" cxnId="{D747C318-276A-4643-8BB0-FD8F21898103}">
      <dgm:prSet/>
      <dgm:spPr/>
      <dgm:t>
        <a:bodyPr/>
        <a:lstStyle/>
        <a:p>
          <a:endParaRPr lang="en-US"/>
        </a:p>
      </dgm:t>
    </dgm:pt>
    <dgm:pt modelId="{C0753027-60B6-43A1-B511-0D580702B9CC}" type="sibTrans" cxnId="{D747C318-276A-4643-8BB0-FD8F21898103}">
      <dgm:prSet/>
      <dgm:spPr/>
      <dgm:t>
        <a:bodyPr/>
        <a:lstStyle/>
        <a:p>
          <a:endParaRPr lang="en-US"/>
        </a:p>
      </dgm:t>
    </dgm:pt>
    <dgm:pt modelId="{EDE5474F-DF3A-491E-9D56-81EACBA332AB}">
      <dgm:prSet/>
      <dgm:spPr/>
      <dgm:t>
        <a:bodyPr/>
        <a:lstStyle/>
        <a:p>
          <a:r>
            <a:rPr lang="en-US"/>
            <a:t>1) Baseline (demography only)</a:t>
          </a:r>
        </a:p>
      </dgm:t>
    </dgm:pt>
    <dgm:pt modelId="{EC2E9B74-3875-4225-9EA2-6ECA39FCFA0D}" type="parTrans" cxnId="{C94991B3-F2C4-4482-86E0-9A8D21C75620}">
      <dgm:prSet/>
      <dgm:spPr/>
      <dgm:t>
        <a:bodyPr/>
        <a:lstStyle/>
        <a:p>
          <a:endParaRPr lang="en-US"/>
        </a:p>
      </dgm:t>
    </dgm:pt>
    <dgm:pt modelId="{CF2F47D4-3D45-4A0D-80AD-10BDB561847F}" type="sibTrans" cxnId="{C94991B3-F2C4-4482-86E0-9A8D21C75620}">
      <dgm:prSet/>
      <dgm:spPr/>
      <dgm:t>
        <a:bodyPr/>
        <a:lstStyle/>
        <a:p>
          <a:endParaRPr lang="en-US"/>
        </a:p>
      </dgm:t>
    </dgm:pt>
    <dgm:pt modelId="{9BD6A41E-D07C-4C12-BBD9-ACFDE5AC27EE}">
      <dgm:prSet/>
      <dgm:spPr/>
      <dgm:t>
        <a:bodyPr/>
        <a:lstStyle/>
        <a:p>
          <a:r>
            <a:rPr lang="en-US"/>
            <a:t>2) + Investment &amp; external finance (FDI, savings, capital formation)</a:t>
          </a:r>
        </a:p>
      </dgm:t>
    </dgm:pt>
    <dgm:pt modelId="{DC04C502-E480-4C3B-BDB0-90A97721B90D}" type="parTrans" cxnId="{FAD94739-BC77-4611-9FE4-23C6141171C0}">
      <dgm:prSet/>
      <dgm:spPr/>
      <dgm:t>
        <a:bodyPr/>
        <a:lstStyle/>
        <a:p>
          <a:endParaRPr lang="en-US"/>
        </a:p>
      </dgm:t>
    </dgm:pt>
    <dgm:pt modelId="{902794CD-99E5-4BBB-AF7C-AF277BEF0BA8}" type="sibTrans" cxnId="{FAD94739-BC77-4611-9FE4-23C6141171C0}">
      <dgm:prSet/>
      <dgm:spPr/>
      <dgm:t>
        <a:bodyPr/>
        <a:lstStyle/>
        <a:p>
          <a:endParaRPr lang="en-US"/>
        </a:p>
      </dgm:t>
    </dgm:pt>
    <dgm:pt modelId="{583B92DB-A1E4-413A-9E13-4FAB09AC5D27}">
      <dgm:prSet/>
      <dgm:spPr/>
      <dgm:t>
        <a:bodyPr/>
        <a:lstStyle/>
        <a:p>
          <a:r>
            <a:rPr lang="en-US"/>
            <a:t>3) + Institutions (legal rights)</a:t>
          </a:r>
        </a:p>
      </dgm:t>
    </dgm:pt>
    <dgm:pt modelId="{E2A134AF-F92D-491B-B1CC-AF61D28C0096}" type="parTrans" cxnId="{12525E0F-D00C-428A-95F4-D7AA392A5E66}">
      <dgm:prSet/>
      <dgm:spPr/>
      <dgm:t>
        <a:bodyPr/>
        <a:lstStyle/>
        <a:p>
          <a:endParaRPr lang="en-US"/>
        </a:p>
      </dgm:t>
    </dgm:pt>
    <dgm:pt modelId="{876C15F8-B7E8-4B7F-A6A8-47205C549FD9}" type="sibTrans" cxnId="{12525E0F-D00C-428A-95F4-D7AA392A5E66}">
      <dgm:prSet/>
      <dgm:spPr/>
      <dgm:t>
        <a:bodyPr/>
        <a:lstStyle/>
        <a:p>
          <a:endParaRPr lang="en-US"/>
        </a:p>
      </dgm:t>
    </dgm:pt>
    <dgm:pt modelId="{1B62E673-5208-4858-9B63-9FB2D0CD8AA3}">
      <dgm:prSet/>
      <dgm:spPr/>
      <dgm:t>
        <a:bodyPr/>
        <a:lstStyle/>
        <a:p>
          <a:r>
            <a:rPr lang="en-US"/>
            <a:t>4) Full model (all covariates)</a:t>
          </a:r>
        </a:p>
      </dgm:t>
    </dgm:pt>
    <dgm:pt modelId="{23175287-E929-4873-8EED-6981E6781CB1}" type="parTrans" cxnId="{85DE735D-8DF5-4C43-9A67-B0201B633CB3}">
      <dgm:prSet/>
      <dgm:spPr/>
      <dgm:t>
        <a:bodyPr/>
        <a:lstStyle/>
        <a:p>
          <a:endParaRPr lang="en-US"/>
        </a:p>
      </dgm:t>
    </dgm:pt>
    <dgm:pt modelId="{DDAA555D-04E7-4BBE-8695-7502C9E9CDE2}" type="sibTrans" cxnId="{85DE735D-8DF5-4C43-9A67-B0201B633CB3}">
      <dgm:prSet/>
      <dgm:spPr/>
      <dgm:t>
        <a:bodyPr/>
        <a:lstStyle/>
        <a:p>
          <a:endParaRPr lang="en-US"/>
        </a:p>
      </dgm:t>
    </dgm:pt>
    <dgm:pt modelId="{BDD7B5E4-AAB7-4D64-972E-49E15633D9AE}">
      <dgm:prSet/>
      <dgm:spPr/>
      <dgm:t>
        <a:bodyPr/>
        <a:lstStyle/>
        <a:p>
          <a:r>
            <a:rPr lang="en-US"/>
            <a:t>Diagnostics: multicollinearity (VIF), heteroskedasticity tests, outlier review; sensitivity to log transforms and fixed effects.</a:t>
          </a:r>
        </a:p>
      </dgm:t>
    </dgm:pt>
    <dgm:pt modelId="{43BF447F-DC4B-47D1-A204-62B8D8334019}" type="parTrans" cxnId="{8F6361B7-B2AE-4965-8EB1-6E7536D7C08B}">
      <dgm:prSet/>
      <dgm:spPr/>
      <dgm:t>
        <a:bodyPr/>
        <a:lstStyle/>
        <a:p>
          <a:endParaRPr lang="en-US"/>
        </a:p>
      </dgm:t>
    </dgm:pt>
    <dgm:pt modelId="{96DDF01B-356D-4375-AC5B-A711667D7DB8}" type="sibTrans" cxnId="{8F6361B7-B2AE-4965-8EB1-6E7536D7C08B}">
      <dgm:prSet/>
      <dgm:spPr/>
      <dgm:t>
        <a:bodyPr/>
        <a:lstStyle/>
        <a:p>
          <a:endParaRPr lang="en-US"/>
        </a:p>
      </dgm:t>
    </dgm:pt>
    <dgm:pt modelId="{22170D16-C633-44D6-9E31-632405EB96A4}" type="pres">
      <dgm:prSet presAssocID="{B2775C8E-05D9-4C23-AC05-8D1BA5CD0D56}" presName="root" presStyleCnt="0">
        <dgm:presLayoutVars>
          <dgm:dir/>
          <dgm:resizeHandles val="exact"/>
        </dgm:presLayoutVars>
      </dgm:prSet>
      <dgm:spPr/>
    </dgm:pt>
    <dgm:pt modelId="{C1C5FEF0-CB1E-43C5-A7F8-0C1470529EEF}" type="pres">
      <dgm:prSet presAssocID="{C1A5E726-47AE-45B7-9388-D14A33F4A7E1}" presName="compNode" presStyleCnt="0"/>
      <dgm:spPr/>
    </dgm:pt>
    <dgm:pt modelId="{8692A039-4A56-4AAA-ACDB-FCEDEB7F1C83}" type="pres">
      <dgm:prSet presAssocID="{C1A5E726-47AE-45B7-9388-D14A33F4A7E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C89C2EB9-DEF1-461E-A01F-9E751D9BB054}" type="pres">
      <dgm:prSet presAssocID="{C1A5E726-47AE-45B7-9388-D14A33F4A7E1}" presName="spaceRect" presStyleCnt="0"/>
      <dgm:spPr/>
    </dgm:pt>
    <dgm:pt modelId="{9A24E246-A24C-4BDE-A238-57F7B3FED0EC}" type="pres">
      <dgm:prSet presAssocID="{C1A5E726-47AE-45B7-9388-D14A33F4A7E1}" presName="textRect" presStyleLbl="revTx" presStyleIdx="0" presStyleCnt="6">
        <dgm:presLayoutVars>
          <dgm:chMax val="1"/>
          <dgm:chPref val="1"/>
        </dgm:presLayoutVars>
      </dgm:prSet>
      <dgm:spPr/>
    </dgm:pt>
    <dgm:pt modelId="{EEA48281-A56A-47DA-B66F-EE3289C4222C}" type="pres">
      <dgm:prSet presAssocID="{C0753027-60B6-43A1-B511-0D580702B9CC}" presName="sibTrans" presStyleCnt="0"/>
      <dgm:spPr/>
    </dgm:pt>
    <dgm:pt modelId="{AFBCA930-2727-4E56-AEF9-D228005979A1}" type="pres">
      <dgm:prSet presAssocID="{EDE5474F-DF3A-491E-9D56-81EACBA332AB}" presName="compNode" presStyleCnt="0"/>
      <dgm:spPr/>
    </dgm:pt>
    <dgm:pt modelId="{EE3BA3C3-1040-4CAF-A345-50B9AD044E6E}" type="pres">
      <dgm:prSet presAssocID="{EDE5474F-DF3A-491E-9D56-81EACBA332A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14E63B3-6EF5-4DE3-B95E-977E2E344A4E}" type="pres">
      <dgm:prSet presAssocID="{EDE5474F-DF3A-491E-9D56-81EACBA332AB}" presName="spaceRect" presStyleCnt="0"/>
      <dgm:spPr/>
    </dgm:pt>
    <dgm:pt modelId="{79B54796-6B4E-4902-ABB4-6FC50A3D978B}" type="pres">
      <dgm:prSet presAssocID="{EDE5474F-DF3A-491E-9D56-81EACBA332AB}" presName="textRect" presStyleLbl="revTx" presStyleIdx="1" presStyleCnt="6">
        <dgm:presLayoutVars>
          <dgm:chMax val="1"/>
          <dgm:chPref val="1"/>
        </dgm:presLayoutVars>
      </dgm:prSet>
      <dgm:spPr/>
    </dgm:pt>
    <dgm:pt modelId="{F6F995A3-D4E5-43F9-8EF8-0877190AC677}" type="pres">
      <dgm:prSet presAssocID="{CF2F47D4-3D45-4A0D-80AD-10BDB561847F}" presName="sibTrans" presStyleCnt="0"/>
      <dgm:spPr/>
    </dgm:pt>
    <dgm:pt modelId="{E7AD8AA0-505C-4FF4-A2F7-0A596385E16C}" type="pres">
      <dgm:prSet presAssocID="{9BD6A41E-D07C-4C12-BBD9-ACFDE5AC27EE}" presName="compNode" presStyleCnt="0"/>
      <dgm:spPr/>
    </dgm:pt>
    <dgm:pt modelId="{A0BB4FEF-EB2F-484B-9363-B835B3EDB8E8}" type="pres">
      <dgm:prSet presAssocID="{9BD6A41E-D07C-4C12-BBD9-ACFDE5AC27E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70962EA9-7B3A-46C9-88E2-3835D4BC04E8}" type="pres">
      <dgm:prSet presAssocID="{9BD6A41E-D07C-4C12-BBD9-ACFDE5AC27EE}" presName="spaceRect" presStyleCnt="0"/>
      <dgm:spPr/>
    </dgm:pt>
    <dgm:pt modelId="{1F78B0D4-3A1E-4AF0-83F5-C4BF127692CE}" type="pres">
      <dgm:prSet presAssocID="{9BD6A41E-D07C-4C12-BBD9-ACFDE5AC27EE}" presName="textRect" presStyleLbl="revTx" presStyleIdx="2" presStyleCnt="6">
        <dgm:presLayoutVars>
          <dgm:chMax val="1"/>
          <dgm:chPref val="1"/>
        </dgm:presLayoutVars>
      </dgm:prSet>
      <dgm:spPr/>
    </dgm:pt>
    <dgm:pt modelId="{023826AA-996D-4DAC-875A-3B46EF2E7951}" type="pres">
      <dgm:prSet presAssocID="{902794CD-99E5-4BBB-AF7C-AF277BEF0BA8}" presName="sibTrans" presStyleCnt="0"/>
      <dgm:spPr/>
    </dgm:pt>
    <dgm:pt modelId="{2B777FCF-5F52-4A9F-9523-7F8CC21032A4}" type="pres">
      <dgm:prSet presAssocID="{583B92DB-A1E4-413A-9E13-4FAB09AC5D27}" presName="compNode" presStyleCnt="0"/>
      <dgm:spPr/>
    </dgm:pt>
    <dgm:pt modelId="{38EFF330-9575-4D5B-9226-4755A82A2D6F}" type="pres">
      <dgm:prSet presAssocID="{583B92DB-A1E4-413A-9E13-4FAB09AC5D2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AD52DD1E-64DA-4563-AD2E-68246C788A59}" type="pres">
      <dgm:prSet presAssocID="{583B92DB-A1E4-413A-9E13-4FAB09AC5D27}" presName="spaceRect" presStyleCnt="0"/>
      <dgm:spPr/>
    </dgm:pt>
    <dgm:pt modelId="{A376EAB1-1ACC-4937-B53B-ECB1CE3EBA86}" type="pres">
      <dgm:prSet presAssocID="{583B92DB-A1E4-413A-9E13-4FAB09AC5D27}" presName="textRect" presStyleLbl="revTx" presStyleIdx="3" presStyleCnt="6">
        <dgm:presLayoutVars>
          <dgm:chMax val="1"/>
          <dgm:chPref val="1"/>
        </dgm:presLayoutVars>
      </dgm:prSet>
      <dgm:spPr/>
    </dgm:pt>
    <dgm:pt modelId="{3151AD72-D6DC-41FD-BFF0-15C3896945D3}" type="pres">
      <dgm:prSet presAssocID="{876C15F8-B7E8-4B7F-A6A8-47205C549FD9}" presName="sibTrans" presStyleCnt="0"/>
      <dgm:spPr/>
    </dgm:pt>
    <dgm:pt modelId="{494A2A1B-D74A-4875-9739-A3EB90C3EDDE}" type="pres">
      <dgm:prSet presAssocID="{1B62E673-5208-4858-9B63-9FB2D0CD8AA3}" presName="compNode" presStyleCnt="0"/>
      <dgm:spPr/>
    </dgm:pt>
    <dgm:pt modelId="{9E0B2E9A-37D1-443C-A3CF-D02639E4A0CB}" type="pres">
      <dgm:prSet presAssocID="{1B62E673-5208-4858-9B63-9FB2D0CD8AA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BB010E25-9B1A-4F4E-8725-1293625A74FC}" type="pres">
      <dgm:prSet presAssocID="{1B62E673-5208-4858-9B63-9FB2D0CD8AA3}" presName="spaceRect" presStyleCnt="0"/>
      <dgm:spPr/>
    </dgm:pt>
    <dgm:pt modelId="{FF311675-065B-47D8-9D90-6CB5FF7106CB}" type="pres">
      <dgm:prSet presAssocID="{1B62E673-5208-4858-9B63-9FB2D0CD8AA3}" presName="textRect" presStyleLbl="revTx" presStyleIdx="4" presStyleCnt="6">
        <dgm:presLayoutVars>
          <dgm:chMax val="1"/>
          <dgm:chPref val="1"/>
        </dgm:presLayoutVars>
      </dgm:prSet>
      <dgm:spPr/>
    </dgm:pt>
    <dgm:pt modelId="{F8B82696-9797-489E-8CE6-0B495C926AF0}" type="pres">
      <dgm:prSet presAssocID="{DDAA555D-04E7-4BBE-8695-7502C9E9CDE2}" presName="sibTrans" presStyleCnt="0"/>
      <dgm:spPr/>
    </dgm:pt>
    <dgm:pt modelId="{E6749FB5-B4BC-48CB-ABAC-653BAC10B18A}" type="pres">
      <dgm:prSet presAssocID="{BDD7B5E4-AAB7-4D64-972E-49E15633D9AE}" presName="compNode" presStyleCnt="0"/>
      <dgm:spPr/>
    </dgm:pt>
    <dgm:pt modelId="{40A76F5B-D228-4A6D-AC28-5C6AEE7FB31C}" type="pres">
      <dgm:prSet presAssocID="{BDD7B5E4-AAB7-4D64-972E-49E15633D9A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FA722445-E551-45AD-9F24-752A23019C69}" type="pres">
      <dgm:prSet presAssocID="{BDD7B5E4-AAB7-4D64-972E-49E15633D9AE}" presName="spaceRect" presStyleCnt="0"/>
      <dgm:spPr/>
    </dgm:pt>
    <dgm:pt modelId="{D8C0DCA0-99F5-4D64-9A03-68C88C0CBCFC}" type="pres">
      <dgm:prSet presAssocID="{BDD7B5E4-AAB7-4D64-972E-49E15633D9A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12525E0F-D00C-428A-95F4-D7AA392A5E66}" srcId="{B2775C8E-05D9-4C23-AC05-8D1BA5CD0D56}" destId="{583B92DB-A1E4-413A-9E13-4FAB09AC5D27}" srcOrd="3" destOrd="0" parTransId="{E2A134AF-F92D-491B-B1CC-AF61D28C0096}" sibTransId="{876C15F8-B7E8-4B7F-A6A8-47205C549FD9}"/>
    <dgm:cxn modelId="{D747C318-276A-4643-8BB0-FD8F21898103}" srcId="{B2775C8E-05D9-4C23-AC05-8D1BA5CD0D56}" destId="{C1A5E726-47AE-45B7-9388-D14A33F4A7E1}" srcOrd="0" destOrd="0" parTransId="{903D403F-B9E9-40FD-972B-755DC51BEE5F}" sibTransId="{C0753027-60B6-43A1-B511-0D580702B9CC}"/>
    <dgm:cxn modelId="{E5DE801D-E26E-40D6-B651-53EB48B8AA58}" type="presOf" srcId="{B2775C8E-05D9-4C23-AC05-8D1BA5CD0D56}" destId="{22170D16-C633-44D6-9E31-632405EB96A4}" srcOrd="0" destOrd="0" presId="urn:microsoft.com/office/officeart/2018/2/layout/IconLabelList"/>
    <dgm:cxn modelId="{2F9F121E-4B5B-462A-85C8-896536A15058}" type="presOf" srcId="{EDE5474F-DF3A-491E-9D56-81EACBA332AB}" destId="{79B54796-6B4E-4902-ABB4-6FC50A3D978B}" srcOrd="0" destOrd="0" presId="urn:microsoft.com/office/officeart/2018/2/layout/IconLabelList"/>
    <dgm:cxn modelId="{2B02DB26-C99C-42BA-9C61-9209E7ABB643}" type="presOf" srcId="{1B62E673-5208-4858-9B63-9FB2D0CD8AA3}" destId="{FF311675-065B-47D8-9D90-6CB5FF7106CB}" srcOrd="0" destOrd="0" presId="urn:microsoft.com/office/officeart/2018/2/layout/IconLabelList"/>
    <dgm:cxn modelId="{FAD94739-BC77-4611-9FE4-23C6141171C0}" srcId="{B2775C8E-05D9-4C23-AC05-8D1BA5CD0D56}" destId="{9BD6A41E-D07C-4C12-BBD9-ACFDE5AC27EE}" srcOrd="2" destOrd="0" parTransId="{DC04C502-E480-4C3B-BDB0-90A97721B90D}" sibTransId="{902794CD-99E5-4BBB-AF7C-AF277BEF0BA8}"/>
    <dgm:cxn modelId="{85DE735D-8DF5-4C43-9A67-B0201B633CB3}" srcId="{B2775C8E-05D9-4C23-AC05-8D1BA5CD0D56}" destId="{1B62E673-5208-4858-9B63-9FB2D0CD8AA3}" srcOrd="4" destOrd="0" parTransId="{23175287-E929-4873-8EED-6981E6781CB1}" sibTransId="{DDAA555D-04E7-4BBE-8695-7502C9E9CDE2}"/>
    <dgm:cxn modelId="{857AC962-754C-4697-914C-F69D600450C1}" type="presOf" srcId="{9BD6A41E-D07C-4C12-BBD9-ACFDE5AC27EE}" destId="{1F78B0D4-3A1E-4AF0-83F5-C4BF127692CE}" srcOrd="0" destOrd="0" presId="urn:microsoft.com/office/officeart/2018/2/layout/IconLabelList"/>
    <dgm:cxn modelId="{EFAEFC9C-CC46-4D9A-B3A5-285ADA9C79B2}" type="presOf" srcId="{583B92DB-A1E4-413A-9E13-4FAB09AC5D27}" destId="{A376EAB1-1ACC-4937-B53B-ECB1CE3EBA86}" srcOrd="0" destOrd="0" presId="urn:microsoft.com/office/officeart/2018/2/layout/IconLabelList"/>
    <dgm:cxn modelId="{A153DBB2-48D8-4F8D-8166-2E2A625B91F5}" type="presOf" srcId="{BDD7B5E4-AAB7-4D64-972E-49E15633D9AE}" destId="{D8C0DCA0-99F5-4D64-9A03-68C88C0CBCFC}" srcOrd="0" destOrd="0" presId="urn:microsoft.com/office/officeart/2018/2/layout/IconLabelList"/>
    <dgm:cxn modelId="{C94991B3-F2C4-4482-86E0-9A8D21C75620}" srcId="{B2775C8E-05D9-4C23-AC05-8D1BA5CD0D56}" destId="{EDE5474F-DF3A-491E-9D56-81EACBA332AB}" srcOrd="1" destOrd="0" parTransId="{EC2E9B74-3875-4225-9EA2-6ECA39FCFA0D}" sibTransId="{CF2F47D4-3D45-4A0D-80AD-10BDB561847F}"/>
    <dgm:cxn modelId="{8F6361B7-B2AE-4965-8EB1-6E7536D7C08B}" srcId="{B2775C8E-05D9-4C23-AC05-8D1BA5CD0D56}" destId="{BDD7B5E4-AAB7-4D64-972E-49E15633D9AE}" srcOrd="5" destOrd="0" parTransId="{43BF447F-DC4B-47D1-A204-62B8D8334019}" sibTransId="{96DDF01B-356D-4375-AC5B-A711667D7DB8}"/>
    <dgm:cxn modelId="{6CB5F4EF-9160-4084-A1D2-C2C19E0E0136}" type="presOf" srcId="{C1A5E726-47AE-45B7-9388-D14A33F4A7E1}" destId="{9A24E246-A24C-4BDE-A238-57F7B3FED0EC}" srcOrd="0" destOrd="0" presId="urn:microsoft.com/office/officeart/2018/2/layout/IconLabelList"/>
    <dgm:cxn modelId="{D6FB19BE-B218-4CAC-9708-3FE655D1298D}" type="presParOf" srcId="{22170D16-C633-44D6-9E31-632405EB96A4}" destId="{C1C5FEF0-CB1E-43C5-A7F8-0C1470529EEF}" srcOrd="0" destOrd="0" presId="urn:microsoft.com/office/officeart/2018/2/layout/IconLabelList"/>
    <dgm:cxn modelId="{EEC6DEEF-74F4-481F-A70E-861749C9E1BA}" type="presParOf" srcId="{C1C5FEF0-CB1E-43C5-A7F8-0C1470529EEF}" destId="{8692A039-4A56-4AAA-ACDB-FCEDEB7F1C83}" srcOrd="0" destOrd="0" presId="urn:microsoft.com/office/officeart/2018/2/layout/IconLabelList"/>
    <dgm:cxn modelId="{6F212217-E60C-4E12-A40F-79A50AFCB00D}" type="presParOf" srcId="{C1C5FEF0-CB1E-43C5-A7F8-0C1470529EEF}" destId="{C89C2EB9-DEF1-461E-A01F-9E751D9BB054}" srcOrd="1" destOrd="0" presId="urn:microsoft.com/office/officeart/2018/2/layout/IconLabelList"/>
    <dgm:cxn modelId="{2720E27F-99B5-4114-A3EE-C697BBE8B194}" type="presParOf" srcId="{C1C5FEF0-CB1E-43C5-A7F8-0C1470529EEF}" destId="{9A24E246-A24C-4BDE-A238-57F7B3FED0EC}" srcOrd="2" destOrd="0" presId="urn:microsoft.com/office/officeart/2018/2/layout/IconLabelList"/>
    <dgm:cxn modelId="{940937D7-BF97-4A60-BE41-0DA410A4EF42}" type="presParOf" srcId="{22170D16-C633-44D6-9E31-632405EB96A4}" destId="{EEA48281-A56A-47DA-B66F-EE3289C4222C}" srcOrd="1" destOrd="0" presId="urn:microsoft.com/office/officeart/2018/2/layout/IconLabelList"/>
    <dgm:cxn modelId="{83FD40EB-AD77-4416-ADEE-80348C3522AF}" type="presParOf" srcId="{22170D16-C633-44D6-9E31-632405EB96A4}" destId="{AFBCA930-2727-4E56-AEF9-D228005979A1}" srcOrd="2" destOrd="0" presId="urn:microsoft.com/office/officeart/2018/2/layout/IconLabelList"/>
    <dgm:cxn modelId="{D2A9A1EF-B0BC-4B73-9D3F-E6E65FCD41AF}" type="presParOf" srcId="{AFBCA930-2727-4E56-AEF9-D228005979A1}" destId="{EE3BA3C3-1040-4CAF-A345-50B9AD044E6E}" srcOrd="0" destOrd="0" presId="urn:microsoft.com/office/officeart/2018/2/layout/IconLabelList"/>
    <dgm:cxn modelId="{A57BDBF9-96E7-4AF2-BAF0-878782EE31B5}" type="presParOf" srcId="{AFBCA930-2727-4E56-AEF9-D228005979A1}" destId="{F14E63B3-6EF5-4DE3-B95E-977E2E344A4E}" srcOrd="1" destOrd="0" presId="urn:microsoft.com/office/officeart/2018/2/layout/IconLabelList"/>
    <dgm:cxn modelId="{88CA7651-DFD1-4055-96D9-74FBC87CFC84}" type="presParOf" srcId="{AFBCA930-2727-4E56-AEF9-D228005979A1}" destId="{79B54796-6B4E-4902-ABB4-6FC50A3D978B}" srcOrd="2" destOrd="0" presId="urn:microsoft.com/office/officeart/2018/2/layout/IconLabelList"/>
    <dgm:cxn modelId="{7F7CBF7D-9664-4497-AAD4-DF702DE0CA51}" type="presParOf" srcId="{22170D16-C633-44D6-9E31-632405EB96A4}" destId="{F6F995A3-D4E5-43F9-8EF8-0877190AC677}" srcOrd="3" destOrd="0" presId="urn:microsoft.com/office/officeart/2018/2/layout/IconLabelList"/>
    <dgm:cxn modelId="{F16D0EEA-2E21-402C-8159-5DB708D0613A}" type="presParOf" srcId="{22170D16-C633-44D6-9E31-632405EB96A4}" destId="{E7AD8AA0-505C-4FF4-A2F7-0A596385E16C}" srcOrd="4" destOrd="0" presId="urn:microsoft.com/office/officeart/2018/2/layout/IconLabelList"/>
    <dgm:cxn modelId="{171FE909-43E8-4324-A611-73BC72E8983A}" type="presParOf" srcId="{E7AD8AA0-505C-4FF4-A2F7-0A596385E16C}" destId="{A0BB4FEF-EB2F-484B-9363-B835B3EDB8E8}" srcOrd="0" destOrd="0" presId="urn:microsoft.com/office/officeart/2018/2/layout/IconLabelList"/>
    <dgm:cxn modelId="{9902A582-1818-4E32-8BCD-80E0832A7A2E}" type="presParOf" srcId="{E7AD8AA0-505C-4FF4-A2F7-0A596385E16C}" destId="{70962EA9-7B3A-46C9-88E2-3835D4BC04E8}" srcOrd="1" destOrd="0" presId="urn:microsoft.com/office/officeart/2018/2/layout/IconLabelList"/>
    <dgm:cxn modelId="{A1518FCD-B5AA-4571-B186-A3D9A7868FF8}" type="presParOf" srcId="{E7AD8AA0-505C-4FF4-A2F7-0A596385E16C}" destId="{1F78B0D4-3A1E-4AF0-83F5-C4BF127692CE}" srcOrd="2" destOrd="0" presId="urn:microsoft.com/office/officeart/2018/2/layout/IconLabelList"/>
    <dgm:cxn modelId="{92B71D6A-12C8-418E-93DA-89C576154EC8}" type="presParOf" srcId="{22170D16-C633-44D6-9E31-632405EB96A4}" destId="{023826AA-996D-4DAC-875A-3B46EF2E7951}" srcOrd="5" destOrd="0" presId="urn:microsoft.com/office/officeart/2018/2/layout/IconLabelList"/>
    <dgm:cxn modelId="{1FF04060-C7A6-4CC6-B2A9-7048AA365416}" type="presParOf" srcId="{22170D16-C633-44D6-9E31-632405EB96A4}" destId="{2B777FCF-5F52-4A9F-9523-7F8CC21032A4}" srcOrd="6" destOrd="0" presId="urn:microsoft.com/office/officeart/2018/2/layout/IconLabelList"/>
    <dgm:cxn modelId="{B06221F8-7C7E-4A81-86E6-08D65AA67209}" type="presParOf" srcId="{2B777FCF-5F52-4A9F-9523-7F8CC21032A4}" destId="{38EFF330-9575-4D5B-9226-4755A82A2D6F}" srcOrd="0" destOrd="0" presId="urn:microsoft.com/office/officeart/2018/2/layout/IconLabelList"/>
    <dgm:cxn modelId="{29AF3307-89F7-4EE0-ACB0-B16B020FA3DF}" type="presParOf" srcId="{2B777FCF-5F52-4A9F-9523-7F8CC21032A4}" destId="{AD52DD1E-64DA-4563-AD2E-68246C788A59}" srcOrd="1" destOrd="0" presId="urn:microsoft.com/office/officeart/2018/2/layout/IconLabelList"/>
    <dgm:cxn modelId="{D014701D-D4C2-420B-AA0E-FED9EDA0237F}" type="presParOf" srcId="{2B777FCF-5F52-4A9F-9523-7F8CC21032A4}" destId="{A376EAB1-1ACC-4937-B53B-ECB1CE3EBA86}" srcOrd="2" destOrd="0" presId="urn:microsoft.com/office/officeart/2018/2/layout/IconLabelList"/>
    <dgm:cxn modelId="{F13A6FBD-F98C-44FC-8130-AA210D191583}" type="presParOf" srcId="{22170D16-C633-44D6-9E31-632405EB96A4}" destId="{3151AD72-D6DC-41FD-BFF0-15C3896945D3}" srcOrd="7" destOrd="0" presId="urn:microsoft.com/office/officeart/2018/2/layout/IconLabelList"/>
    <dgm:cxn modelId="{9E55D3EC-B1C9-4F55-A04E-28B3B4D51BF3}" type="presParOf" srcId="{22170D16-C633-44D6-9E31-632405EB96A4}" destId="{494A2A1B-D74A-4875-9739-A3EB90C3EDDE}" srcOrd="8" destOrd="0" presId="urn:microsoft.com/office/officeart/2018/2/layout/IconLabelList"/>
    <dgm:cxn modelId="{3159F342-5810-4600-AA79-EF6CDD4E5E6A}" type="presParOf" srcId="{494A2A1B-D74A-4875-9739-A3EB90C3EDDE}" destId="{9E0B2E9A-37D1-443C-A3CF-D02639E4A0CB}" srcOrd="0" destOrd="0" presId="urn:microsoft.com/office/officeart/2018/2/layout/IconLabelList"/>
    <dgm:cxn modelId="{435F5E1B-3931-4278-9694-8CAB055670E1}" type="presParOf" srcId="{494A2A1B-D74A-4875-9739-A3EB90C3EDDE}" destId="{BB010E25-9B1A-4F4E-8725-1293625A74FC}" srcOrd="1" destOrd="0" presId="urn:microsoft.com/office/officeart/2018/2/layout/IconLabelList"/>
    <dgm:cxn modelId="{38060A50-0713-41A0-B702-EBF347C4DD3F}" type="presParOf" srcId="{494A2A1B-D74A-4875-9739-A3EB90C3EDDE}" destId="{FF311675-065B-47D8-9D90-6CB5FF7106CB}" srcOrd="2" destOrd="0" presId="urn:microsoft.com/office/officeart/2018/2/layout/IconLabelList"/>
    <dgm:cxn modelId="{6CA2AF82-B824-4707-A66F-43AA2FC98C97}" type="presParOf" srcId="{22170D16-C633-44D6-9E31-632405EB96A4}" destId="{F8B82696-9797-489E-8CE6-0B495C926AF0}" srcOrd="9" destOrd="0" presId="urn:microsoft.com/office/officeart/2018/2/layout/IconLabelList"/>
    <dgm:cxn modelId="{C61248B2-8C65-4438-8EF7-F866282F5AB8}" type="presParOf" srcId="{22170D16-C633-44D6-9E31-632405EB96A4}" destId="{E6749FB5-B4BC-48CB-ABAC-653BAC10B18A}" srcOrd="10" destOrd="0" presId="urn:microsoft.com/office/officeart/2018/2/layout/IconLabelList"/>
    <dgm:cxn modelId="{7FAD1976-1FCA-4669-980E-72D3007AC148}" type="presParOf" srcId="{E6749FB5-B4BC-48CB-ABAC-653BAC10B18A}" destId="{40A76F5B-D228-4A6D-AC28-5C6AEE7FB31C}" srcOrd="0" destOrd="0" presId="urn:microsoft.com/office/officeart/2018/2/layout/IconLabelList"/>
    <dgm:cxn modelId="{320A4EA8-2731-4175-8489-1E240DA65FB3}" type="presParOf" srcId="{E6749FB5-B4BC-48CB-ABAC-653BAC10B18A}" destId="{FA722445-E551-45AD-9F24-752A23019C69}" srcOrd="1" destOrd="0" presId="urn:microsoft.com/office/officeart/2018/2/layout/IconLabelList"/>
    <dgm:cxn modelId="{B313CDE7-92F6-45A8-AF04-A7A707FEFD17}" type="presParOf" srcId="{E6749FB5-B4BC-48CB-ABAC-653BAC10B18A}" destId="{D8C0DCA0-99F5-4D64-9A03-68C88C0CBCF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32DBAF-C140-470F-B14C-202AB243493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B78C936-303C-46AE-8169-19B6951066BB}">
      <dgm:prSet/>
      <dgm:spPr/>
      <dgm:t>
        <a:bodyPr/>
        <a:lstStyle/>
        <a:p>
          <a:pPr>
            <a:defRPr cap="all"/>
          </a:pPr>
          <a:r>
            <a:rPr lang="en-US"/>
            <a:t>Faster population growth may dilute capital and skills, slowing per‑capita gains.</a:t>
          </a:r>
        </a:p>
      </dgm:t>
    </dgm:pt>
    <dgm:pt modelId="{946F34CF-B3AA-491A-88F3-F111AB1736EF}" type="parTrans" cxnId="{5262345E-8EC2-4CB6-A685-AC616C97D380}">
      <dgm:prSet/>
      <dgm:spPr/>
      <dgm:t>
        <a:bodyPr/>
        <a:lstStyle/>
        <a:p>
          <a:endParaRPr lang="en-US"/>
        </a:p>
      </dgm:t>
    </dgm:pt>
    <dgm:pt modelId="{EFE29675-3B8F-4F6D-B9DC-6D06F0D2216D}" type="sibTrans" cxnId="{5262345E-8EC2-4CB6-A685-AC616C97D380}">
      <dgm:prSet/>
      <dgm:spPr/>
      <dgm:t>
        <a:bodyPr/>
        <a:lstStyle/>
        <a:p>
          <a:endParaRPr lang="en-US"/>
        </a:p>
      </dgm:t>
    </dgm:pt>
    <dgm:pt modelId="{3E23D88E-0FEE-42B7-BCDF-CAEAD33AE755}">
      <dgm:prSet/>
      <dgm:spPr/>
      <dgm:t>
        <a:bodyPr/>
        <a:lstStyle/>
        <a:p>
          <a:pPr>
            <a:defRPr cap="all"/>
          </a:pPr>
          <a:r>
            <a:rPr lang="en-US"/>
            <a:t>Stronger legal/creditor rights align with investment and capital deepening.</a:t>
          </a:r>
        </a:p>
      </dgm:t>
    </dgm:pt>
    <dgm:pt modelId="{75BA084D-1280-44E0-B050-F308D06F4CB4}" type="parTrans" cxnId="{587A45F6-B11B-46CE-B8E8-5A94C8E4CDC4}">
      <dgm:prSet/>
      <dgm:spPr/>
      <dgm:t>
        <a:bodyPr/>
        <a:lstStyle/>
        <a:p>
          <a:endParaRPr lang="en-US"/>
        </a:p>
      </dgm:t>
    </dgm:pt>
    <dgm:pt modelId="{8C9C59C1-FC70-44C4-A30F-646D479C6B16}" type="sibTrans" cxnId="{587A45F6-B11B-46CE-B8E8-5A94C8E4CDC4}">
      <dgm:prSet/>
      <dgm:spPr/>
      <dgm:t>
        <a:bodyPr/>
        <a:lstStyle/>
        <a:p>
          <a:endParaRPr lang="en-US"/>
        </a:p>
      </dgm:t>
    </dgm:pt>
    <dgm:pt modelId="{4BB7E91F-9277-4AB5-B434-B83CFBC0FC96}">
      <dgm:prSet/>
      <dgm:spPr/>
      <dgm:t>
        <a:bodyPr/>
        <a:lstStyle/>
        <a:p>
          <a:pPr>
            <a:defRPr cap="all"/>
          </a:pPr>
          <a:r>
            <a:rPr lang="en-US"/>
            <a:t>FDI can complement domestic investment; effect sizes depend on institutional quality.</a:t>
          </a:r>
        </a:p>
      </dgm:t>
    </dgm:pt>
    <dgm:pt modelId="{7D56EA49-3CAE-43AD-9291-5AFD12478F41}" type="parTrans" cxnId="{EF2DA505-CCBB-4296-9B74-4AD997127923}">
      <dgm:prSet/>
      <dgm:spPr/>
      <dgm:t>
        <a:bodyPr/>
        <a:lstStyle/>
        <a:p>
          <a:endParaRPr lang="en-US"/>
        </a:p>
      </dgm:t>
    </dgm:pt>
    <dgm:pt modelId="{3B445EBB-D5DF-4AF6-B0A1-309ABEA0C96E}" type="sibTrans" cxnId="{EF2DA505-CCBB-4296-9B74-4AD997127923}">
      <dgm:prSet/>
      <dgm:spPr/>
      <dgm:t>
        <a:bodyPr/>
        <a:lstStyle/>
        <a:p>
          <a:endParaRPr lang="en-US"/>
        </a:p>
      </dgm:t>
    </dgm:pt>
    <dgm:pt modelId="{C9D67E44-2427-425D-91F0-37DFE434B0AC}" type="pres">
      <dgm:prSet presAssocID="{B732DBAF-C140-470F-B14C-202AB2434935}" presName="root" presStyleCnt="0">
        <dgm:presLayoutVars>
          <dgm:dir/>
          <dgm:resizeHandles val="exact"/>
        </dgm:presLayoutVars>
      </dgm:prSet>
      <dgm:spPr/>
    </dgm:pt>
    <dgm:pt modelId="{3B7891FA-8711-4433-ACD2-E51D935F29D4}" type="pres">
      <dgm:prSet presAssocID="{FB78C936-303C-46AE-8169-19B6951066BB}" presName="compNode" presStyleCnt="0"/>
      <dgm:spPr/>
    </dgm:pt>
    <dgm:pt modelId="{71D9381A-28C3-4154-9D8F-0C812897420C}" type="pres">
      <dgm:prSet presAssocID="{FB78C936-303C-46AE-8169-19B6951066BB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1687F7B-684D-4D09-B7D9-A4508210A612}" type="pres">
      <dgm:prSet presAssocID="{FB78C936-303C-46AE-8169-19B6951066B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2F11722-D332-4A55-93AC-D49E33D4F584}" type="pres">
      <dgm:prSet presAssocID="{FB78C936-303C-46AE-8169-19B6951066BB}" presName="spaceRect" presStyleCnt="0"/>
      <dgm:spPr/>
    </dgm:pt>
    <dgm:pt modelId="{04201C11-0D96-4587-9BF8-6C867C5198FB}" type="pres">
      <dgm:prSet presAssocID="{FB78C936-303C-46AE-8169-19B6951066BB}" presName="textRect" presStyleLbl="revTx" presStyleIdx="0" presStyleCnt="3">
        <dgm:presLayoutVars>
          <dgm:chMax val="1"/>
          <dgm:chPref val="1"/>
        </dgm:presLayoutVars>
      </dgm:prSet>
      <dgm:spPr/>
    </dgm:pt>
    <dgm:pt modelId="{17ADED70-0F45-4AC8-B166-E8729C1AAFDA}" type="pres">
      <dgm:prSet presAssocID="{EFE29675-3B8F-4F6D-B9DC-6D06F0D2216D}" presName="sibTrans" presStyleCnt="0"/>
      <dgm:spPr/>
    </dgm:pt>
    <dgm:pt modelId="{6AF9052D-3B92-464F-97AA-468868F74B5C}" type="pres">
      <dgm:prSet presAssocID="{3E23D88E-0FEE-42B7-BCDF-CAEAD33AE755}" presName="compNode" presStyleCnt="0"/>
      <dgm:spPr/>
    </dgm:pt>
    <dgm:pt modelId="{C5856773-738C-4219-967C-439550BDD226}" type="pres">
      <dgm:prSet presAssocID="{3E23D88E-0FEE-42B7-BCDF-CAEAD33AE755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7955286-BA3C-40F8-9EEB-8828BDB277CC}" type="pres">
      <dgm:prSet presAssocID="{3E23D88E-0FEE-42B7-BCDF-CAEAD33AE75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76367429-AAE8-478E-B59C-7E2D90DA6E3B}" type="pres">
      <dgm:prSet presAssocID="{3E23D88E-0FEE-42B7-BCDF-CAEAD33AE755}" presName="spaceRect" presStyleCnt="0"/>
      <dgm:spPr/>
    </dgm:pt>
    <dgm:pt modelId="{9F4CBC8D-A6A2-4E44-A913-A068D10CCA98}" type="pres">
      <dgm:prSet presAssocID="{3E23D88E-0FEE-42B7-BCDF-CAEAD33AE755}" presName="textRect" presStyleLbl="revTx" presStyleIdx="1" presStyleCnt="3">
        <dgm:presLayoutVars>
          <dgm:chMax val="1"/>
          <dgm:chPref val="1"/>
        </dgm:presLayoutVars>
      </dgm:prSet>
      <dgm:spPr/>
    </dgm:pt>
    <dgm:pt modelId="{708A360F-BC41-4E3A-8E88-5FC658AE5CAE}" type="pres">
      <dgm:prSet presAssocID="{8C9C59C1-FC70-44C4-A30F-646D479C6B16}" presName="sibTrans" presStyleCnt="0"/>
      <dgm:spPr/>
    </dgm:pt>
    <dgm:pt modelId="{CCCBB7B8-4077-4C49-A1B6-FD2DFC6C6F17}" type="pres">
      <dgm:prSet presAssocID="{4BB7E91F-9277-4AB5-B434-B83CFBC0FC96}" presName="compNode" presStyleCnt="0"/>
      <dgm:spPr/>
    </dgm:pt>
    <dgm:pt modelId="{6508B227-69AA-4252-A1A7-2D7DCDD61D6A}" type="pres">
      <dgm:prSet presAssocID="{4BB7E91F-9277-4AB5-B434-B83CFBC0FC9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EB5096D-F232-466E-98D5-71312BDBDFD2}" type="pres">
      <dgm:prSet presAssocID="{4BB7E91F-9277-4AB5-B434-B83CFBC0FC9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EB73D62B-AADA-4E9B-BA17-A28413BD0B99}" type="pres">
      <dgm:prSet presAssocID="{4BB7E91F-9277-4AB5-B434-B83CFBC0FC96}" presName="spaceRect" presStyleCnt="0"/>
      <dgm:spPr/>
    </dgm:pt>
    <dgm:pt modelId="{102E7A0C-DC41-4010-8836-124ED8237275}" type="pres">
      <dgm:prSet presAssocID="{4BB7E91F-9277-4AB5-B434-B83CFBC0FC9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F2DA505-CCBB-4296-9B74-4AD997127923}" srcId="{B732DBAF-C140-470F-B14C-202AB2434935}" destId="{4BB7E91F-9277-4AB5-B434-B83CFBC0FC96}" srcOrd="2" destOrd="0" parTransId="{7D56EA49-3CAE-43AD-9291-5AFD12478F41}" sibTransId="{3B445EBB-D5DF-4AF6-B0A1-309ABEA0C96E}"/>
    <dgm:cxn modelId="{5262345E-8EC2-4CB6-A685-AC616C97D380}" srcId="{B732DBAF-C140-470F-B14C-202AB2434935}" destId="{FB78C936-303C-46AE-8169-19B6951066BB}" srcOrd="0" destOrd="0" parTransId="{946F34CF-B3AA-491A-88F3-F111AB1736EF}" sibTransId="{EFE29675-3B8F-4F6D-B9DC-6D06F0D2216D}"/>
    <dgm:cxn modelId="{663D0844-E8E9-427F-9BCF-35941A3F1D3D}" type="presOf" srcId="{FB78C936-303C-46AE-8169-19B6951066BB}" destId="{04201C11-0D96-4587-9BF8-6C867C5198FB}" srcOrd="0" destOrd="0" presId="urn:microsoft.com/office/officeart/2018/5/layout/IconLeafLabelList"/>
    <dgm:cxn modelId="{BDA5676E-FCEA-40F0-BB29-346CC34B9F8D}" type="presOf" srcId="{B732DBAF-C140-470F-B14C-202AB2434935}" destId="{C9D67E44-2427-425D-91F0-37DFE434B0AC}" srcOrd="0" destOrd="0" presId="urn:microsoft.com/office/officeart/2018/5/layout/IconLeafLabelList"/>
    <dgm:cxn modelId="{926FD5B6-1353-459F-9CDE-C9D6F51BDF20}" type="presOf" srcId="{4BB7E91F-9277-4AB5-B434-B83CFBC0FC96}" destId="{102E7A0C-DC41-4010-8836-124ED8237275}" srcOrd="0" destOrd="0" presId="urn:microsoft.com/office/officeart/2018/5/layout/IconLeafLabelList"/>
    <dgm:cxn modelId="{587A45F6-B11B-46CE-B8E8-5A94C8E4CDC4}" srcId="{B732DBAF-C140-470F-B14C-202AB2434935}" destId="{3E23D88E-0FEE-42B7-BCDF-CAEAD33AE755}" srcOrd="1" destOrd="0" parTransId="{75BA084D-1280-44E0-B050-F308D06F4CB4}" sibTransId="{8C9C59C1-FC70-44C4-A30F-646D479C6B16}"/>
    <dgm:cxn modelId="{FC819EF6-4CA4-44F2-96FC-2E463AD37D0D}" type="presOf" srcId="{3E23D88E-0FEE-42B7-BCDF-CAEAD33AE755}" destId="{9F4CBC8D-A6A2-4E44-A913-A068D10CCA98}" srcOrd="0" destOrd="0" presId="urn:microsoft.com/office/officeart/2018/5/layout/IconLeafLabelList"/>
    <dgm:cxn modelId="{A7846487-2261-431F-99EF-76225B91B5A6}" type="presParOf" srcId="{C9D67E44-2427-425D-91F0-37DFE434B0AC}" destId="{3B7891FA-8711-4433-ACD2-E51D935F29D4}" srcOrd="0" destOrd="0" presId="urn:microsoft.com/office/officeart/2018/5/layout/IconLeafLabelList"/>
    <dgm:cxn modelId="{4C2D7F64-BDE9-4CD2-BB4C-4B23FD12A011}" type="presParOf" srcId="{3B7891FA-8711-4433-ACD2-E51D935F29D4}" destId="{71D9381A-28C3-4154-9D8F-0C812897420C}" srcOrd="0" destOrd="0" presId="urn:microsoft.com/office/officeart/2018/5/layout/IconLeafLabelList"/>
    <dgm:cxn modelId="{04EF0C05-AAC5-4185-8710-7FB574DA3ECE}" type="presParOf" srcId="{3B7891FA-8711-4433-ACD2-E51D935F29D4}" destId="{51687F7B-684D-4D09-B7D9-A4508210A612}" srcOrd="1" destOrd="0" presId="urn:microsoft.com/office/officeart/2018/5/layout/IconLeafLabelList"/>
    <dgm:cxn modelId="{08AA5A9C-58F8-45D1-BB43-9E61685B2A08}" type="presParOf" srcId="{3B7891FA-8711-4433-ACD2-E51D935F29D4}" destId="{02F11722-D332-4A55-93AC-D49E33D4F584}" srcOrd="2" destOrd="0" presId="urn:microsoft.com/office/officeart/2018/5/layout/IconLeafLabelList"/>
    <dgm:cxn modelId="{130E1E01-97A9-4FD7-B5EE-9EAFB0559B2E}" type="presParOf" srcId="{3B7891FA-8711-4433-ACD2-E51D935F29D4}" destId="{04201C11-0D96-4587-9BF8-6C867C5198FB}" srcOrd="3" destOrd="0" presId="urn:microsoft.com/office/officeart/2018/5/layout/IconLeafLabelList"/>
    <dgm:cxn modelId="{4B9A3A16-347F-4D01-A86D-F79B0B962FE9}" type="presParOf" srcId="{C9D67E44-2427-425D-91F0-37DFE434B0AC}" destId="{17ADED70-0F45-4AC8-B166-E8729C1AAFDA}" srcOrd="1" destOrd="0" presId="urn:microsoft.com/office/officeart/2018/5/layout/IconLeafLabelList"/>
    <dgm:cxn modelId="{E35DCEFF-B912-4DEC-B24A-7952D3CA822D}" type="presParOf" srcId="{C9D67E44-2427-425D-91F0-37DFE434B0AC}" destId="{6AF9052D-3B92-464F-97AA-468868F74B5C}" srcOrd="2" destOrd="0" presId="urn:microsoft.com/office/officeart/2018/5/layout/IconLeafLabelList"/>
    <dgm:cxn modelId="{F7758EE1-C017-43B7-9C61-35E91A29402B}" type="presParOf" srcId="{6AF9052D-3B92-464F-97AA-468868F74B5C}" destId="{C5856773-738C-4219-967C-439550BDD226}" srcOrd="0" destOrd="0" presId="urn:microsoft.com/office/officeart/2018/5/layout/IconLeafLabelList"/>
    <dgm:cxn modelId="{2FA9A2EB-9696-4FC4-BD6D-E797AC2388D5}" type="presParOf" srcId="{6AF9052D-3B92-464F-97AA-468868F74B5C}" destId="{17955286-BA3C-40F8-9EEB-8828BDB277CC}" srcOrd="1" destOrd="0" presId="urn:microsoft.com/office/officeart/2018/5/layout/IconLeafLabelList"/>
    <dgm:cxn modelId="{35637C5B-F349-4426-B7FE-92428DEE88C5}" type="presParOf" srcId="{6AF9052D-3B92-464F-97AA-468868F74B5C}" destId="{76367429-AAE8-478E-B59C-7E2D90DA6E3B}" srcOrd="2" destOrd="0" presId="urn:microsoft.com/office/officeart/2018/5/layout/IconLeafLabelList"/>
    <dgm:cxn modelId="{DBCFCFC0-138C-49D6-8935-6AC791EDE44E}" type="presParOf" srcId="{6AF9052D-3B92-464F-97AA-468868F74B5C}" destId="{9F4CBC8D-A6A2-4E44-A913-A068D10CCA98}" srcOrd="3" destOrd="0" presId="urn:microsoft.com/office/officeart/2018/5/layout/IconLeafLabelList"/>
    <dgm:cxn modelId="{32EDF50D-8E03-48D5-A161-844E69273516}" type="presParOf" srcId="{C9D67E44-2427-425D-91F0-37DFE434B0AC}" destId="{708A360F-BC41-4E3A-8E88-5FC658AE5CAE}" srcOrd="3" destOrd="0" presId="urn:microsoft.com/office/officeart/2018/5/layout/IconLeafLabelList"/>
    <dgm:cxn modelId="{8769D323-A6E6-4496-B7AD-695E35F25DB7}" type="presParOf" srcId="{C9D67E44-2427-425D-91F0-37DFE434B0AC}" destId="{CCCBB7B8-4077-4C49-A1B6-FD2DFC6C6F17}" srcOrd="4" destOrd="0" presId="urn:microsoft.com/office/officeart/2018/5/layout/IconLeafLabelList"/>
    <dgm:cxn modelId="{35E587FD-CCFA-4A1A-A627-551A31F0FBD1}" type="presParOf" srcId="{CCCBB7B8-4077-4C49-A1B6-FD2DFC6C6F17}" destId="{6508B227-69AA-4252-A1A7-2D7DCDD61D6A}" srcOrd="0" destOrd="0" presId="urn:microsoft.com/office/officeart/2018/5/layout/IconLeafLabelList"/>
    <dgm:cxn modelId="{33B39A57-B09D-44DB-AC05-962A3F6857E8}" type="presParOf" srcId="{CCCBB7B8-4077-4C49-A1B6-FD2DFC6C6F17}" destId="{8EB5096D-F232-466E-98D5-71312BDBDFD2}" srcOrd="1" destOrd="0" presId="urn:microsoft.com/office/officeart/2018/5/layout/IconLeafLabelList"/>
    <dgm:cxn modelId="{BA908B48-8A95-4DE4-AB4E-648E12D81DA5}" type="presParOf" srcId="{CCCBB7B8-4077-4C49-A1B6-FD2DFC6C6F17}" destId="{EB73D62B-AADA-4E9B-BA17-A28413BD0B99}" srcOrd="2" destOrd="0" presId="urn:microsoft.com/office/officeart/2018/5/layout/IconLeafLabelList"/>
    <dgm:cxn modelId="{C92F1F0B-44A6-4B8F-8279-CC5419E1F213}" type="presParOf" srcId="{CCCBB7B8-4077-4C49-A1B6-FD2DFC6C6F17}" destId="{102E7A0C-DC41-4010-8836-124ED823727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791969F-4FD2-4144-A9E0-C4D9D24013F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59FD9CA-FE2C-4FF7-9653-1547D3EE6FB7}">
      <dgm:prSet/>
      <dgm:spPr/>
      <dgm:t>
        <a:bodyPr/>
        <a:lstStyle/>
        <a:p>
          <a:pPr>
            <a:defRPr cap="all"/>
          </a:pPr>
          <a:r>
            <a:rPr lang="en-US"/>
            <a:t>Strengthen legal rights and rule-of-law to improve the investment climate.</a:t>
          </a:r>
        </a:p>
      </dgm:t>
    </dgm:pt>
    <dgm:pt modelId="{F40928A5-E7E8-4899-A891-19F85EC87A44}" type="parTrans" cxnId="{03C1C3F9-14EF-40B9-8D88-376D2212F57C}">
      <dgm:prSet/>
      <dgm:spPr/>
      <dgm:t>
        <a:bodyPr/>
        <a:lstStyle/>
        <a:p>
          <a:endParaRPr lang="en-US"/>
        </a:p>
      </dgm:t>
    </dgm:pt>
    <dgm:pt modelId="{35468D4F-38FB-4480-859C-6EA819D44DDC}" type="sibTrans" cxnId="{03C1C3F9-14EF-40B9-8D88-376D2212F57C}">
      <dgm:prSet/>
      <dgm:spPr/>
      <dgm:t>
        <a:bodyPr/>
        <a:lstStyle/>
        <a:p>
          <a:endParaRPr lang="en-US"/>
        </a:p>
      </dgm:t>
    </dgm:pt>
    <dgm:pt modelId="{4FF96A11-DDFE-41CC-A1A1-9482D417E641}">
      <dgm:prSet/>
      <dgm:spPr/>
      <dgm:t>
        <a:bodyPr/>
        <a:lstStyle/>
        <a:p>
          <a:pPr>
            <a:defRPr cap="all"/>
          </a:pPr>
          <a:r>
            <a:rPr lang="en-US"/>
            <a:t>Target productivity and capital deepening; demography alone is not a shortcut to higher GDP per‑capita growth.</a:t>
          </a:r>
        </a:p>
      </dgm:t>
    </dgm:pt>
    <dgm:pt modelId="{7E7CE6B9-4E58-4FE7-961C-69436351F3E0}" type="parTrans" cxnId="{C9C9FFD2-C0F4-4D4C-9386-7A18A2E129AF}">
      <dgm:prSet/>
      <dgm:spPr/>
      <dgm:t>
        <a:bodyPr/>
        <a:lstStyle/>
        <a:p>
          <a:endParaRPr lang="en-US"/>
        </a:p>
      </dgm:t>
    </dgm:pt>
    <dgm:pt modelId="{38DBA72B-CF67-4E56-891A-E50B0348331D}" type="sibTrans" cxnId="{C9C9FFD2-C0F4-4D4C-9386-7A18A2E129AF}">
      <dgm:prSet/>
      <dgm:spPr/>
      <dgm:t>
        <a:bodyPr/>
        <a:lstStyle/>
        <a:p>
          <a:endParaRPr lang="en-US"/>
        </a:p>
      </dgm:t>
    </dgm:pt>
    <dgm:pt modelId="{5BCE825B-7E63-4373-9824-19F85994E5B6}">
      <dgm:prSet/>
      <dgm:spPr/>
      <dgm:t>
        <a:bodyPr/>
        <a:lstStyle/>
        <a:p>
          <a:pPr>
            <a:defRPr cap="all"/>
          </a:pPr>
          <a:r>
            <a:rPr lang="en-US"/>
            <a:t>Maintain openness and stability that attract quality FDI.</a:t>
          </a:r>
        </a:p>
      </dgm:t>
    </dgm:pt>
    <dgm:pt modelId="{752B013C-B031-46EF-AFC3-391AC2E525F8}" type="parTrans" cxnId="{FFF448F2-84AF-4983-AA2B-45466770C8C8}">
      <dgm:prSet/>
      <dgm:spPr/>
      <dgm:t>
        <a:bodyPr/>
        <a:lstStyle/>
        <a:p>
          <a:endParaRPr lang="en-US"/>
        </a:p>
      </dgm:t>
    </dgm:pt>
    <dgm:pt modelId="{505ECB13-C870-4371-9A57-AB74D29F1687}" type="sibTrans" cxnId="{FFF448F2-84AF-4983-AA2B-45466770C8C8}">
      <dgm:prSet/>
      <dgm:spPr/>
      <dgm:t>
        <a:bodyPr/>
        <a:lstStyle/>
        <a:p>
          <a:endParaRPr lang="en-US"/>
        </a:p>
      </dgm:t>
    </dgm:pt>
    <dgm:pt modelId="{762B6F21-C8EE-4032-B6DB-6ED7431F9E88}" type="pres">
      <dgm:prSet presAssocID="{D791969F-4FD2-4144-A9E0-C4D9D24013F3}" presName="root" presStyleCnt="0">
        <dgm:presLayoutVars>
          <dgm:dir/>
          <dgm:resizeHandles val="exact"/>
        </dgm:presLayoutVars>
      </dgm:prSet>
      <dgm:spPr/>
    </dgm:pt>
    <dgm:pt modelId="{553C7BC3-35D8-44E9-B869-D42BF9B21242}" type="pres">
      <dgm:prSet presAssocID="{359FD9CA-FE2C-4FF7-9653-1547D3EE6FB7}" presName="compNode" presStyleCnt="0"/>
      <dgm:spPr/>
    </dgm:pt>
    <dgm:pt modelId="{A5084189-36C9-4901-BAEC-B1C1E571BF67}" type="pres">
      <dgm:prSet presAssocID="{359FD9CA-FE2C-4FF7-9653-1547D3EE6FB7}" presName="iconBgRect" presStyleLbl="bgShp" presStyleIdx="0" presStyleCnt="3"/>
      <dgm:spPr/>
    </dgm:pt>
    <dgm:pt modelId="{C4D94D90-E9D8-4521-AEB3-374D99BCCBC7}" type="pres">
      <dgm:prSet presAssocID="{359FD9CA-FE2C-4FF7-9653-1547D3EE6F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703EB944-D38C-4F32-811B-5308808D798D}" type="pres">
      <dgm:prSet presAssocID="{359FD9CA-FE2C-4FF7-9653-1547D3EE6FB7}" presName="spaceRect" presStyleCnt="0"/>
      <dgm:spPr/>
    </dgm:pt>
    <dgm:pt modelId="{77631470-1277-48E3-BC3C-E437647F1150}" type="pres">
      <dgm:prSet presAssocID="{359FD9CA-FE2C-4FF7-9653-1547D3EE6FB7}" presName="textRect" presStyleLbl="revTx" presStyleIdx="0" presStyleCnt="3">
        <dgm:presLayoutVars>
          <dgm:chMax val="1"/>
          <dgm:chPref val="1"/>
        </dgm:presLayoutVars>
      </dgm:prSet>
      <dgm:spPr/>
    </dgm:pt>
    <dgm:pt modelId="{A6AB32F1-E743-4618-BA7E-93A41B60C0AF}" type="pres">
      <dgm:prSet presAssocID="{35468D4F-38FB-4480-859C-6EA819D44DDC}" presName="sibTrans" presStyleCnt="0"/>
      <dgm:spPr/>
    </dgm:pt>
    <dgm:pt modelId="{EAB1605B-FF77-40E7-B446-900B8DAA6AD0}" type="pres">
      <dgm:prSet presAssocID="{4FF96A11-DDFE-41CC-A1A1-9482D417E641}" presName="compNode" presStyleCnt="0"/>
      <dgm:spPr/>
    </dgm:pt>
    <dgm:pt modelId="{7F01D528-40BF-43D1-8B91-700A3A48D80F}" type="pres">
      <dgm:prSet presAssocID="{4FF96A11-DDFE-41CC-A1A1-9482D417E641}" presName="iconBgRect" presStyleLbl="bgShp" presStyleIdx="1" presStyleCnt="3"/>
      <dgm:spPr/>
    </dgm:pt>
    <dgm:pt modelId="{943B9899-6E85-4937-BF3F-EBE2915CFC62}" type="pres">
      <dgm:prSet presAssocID="{4FF96A11-DDFE-41CC-A1A1-9482D417E64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517E5B10-A07D-4BB2-92F0-E519FDAE42C3}" type="pres">
      <dgm:prSet presAssocID="{4FF96A11-DDFE-41CC-A1A1-9482D417E641}" presName="spaceRect" presStyleCnt="0"/>
      <dgm:spPr/>
    </dgm:pt>
    <dgm:pt modelId="{A55AC1C5-E88A-43D2-91CC-EA850E5EB4AB}" type="pres">
      <dgm:prSet presAssocID="{4FF96A11-DDFE-41CC-A1A1-9482D417E641}" presName="textRect" presStyleLbl="revTx" presStyleIdx="1" presStyleCnt="3">
        <dgm:presLayoutVars>
          <dgm:chMax val="1"/>
          <dgm:chPref val="1"/>
        </dgm:presLayoutVars>
      </dgm:prSet>
      <dgm:spPr/>
    </dgm:pt>
    <dgm:pt modelId="{41A5E166-5032-4F5B-83E2-5024C31EAEB9}" type="pres">
      <dgm:prSet presAssocID="{38DBA72B-CF67-4E56-891A-E50B0348331D}" presName="sibTrans" presStyleCnt="0"/>
      <dgm:spPr/>
    </dgm:pt>
    <dgm:pt modelId="{48216DA1-F18F-47D3-B014-9C1750BFA161}" type="pres">
      <dgm:prSet presAssocID="{5BCE825B-7E63-4373-9824-19F85994E5B6}" presName="compNode" presStyleCnt="0"/>
      <dgm:spPr/>
    </dgm:pt>
    <dgm:pt modelId="{5A07457E-EFBF-4784-8DD9-B6E33E4CE415}" type="pres">
      <dgm:prSet presAssocID="{5BCE825B-7E63-4373-9824-19F85994E5B6}" presName="iconBgRect" presStyleLbl="bgShp" presStyleIdx="2" presStyleCnt="3"/>
      <dgm:spPr/>
    </dgm:pt>
    <dgm:pt modelId="{EF4D2C3F-0F60-4AEF-8721-7EFE29F266A6}" type="pres">
      <dgm:prSet presAssocID="{5BCE825B-7E63-4373-9824-19F85994E5B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3C376F5C-E327-4A27-A201-CAF4A797CAD2}" type="pres">
      <dgm:prSet presAssocID="{5BCE825B-7E63-4373-9824-19F85994E5B6}" presName="spaceRect" presStyleCnt="0"/>
      <dgm:spPr/>
    </dgm:pt>
    <dgm:pt modelId="{112ED4CC-AAFE-4A17-AB2F-8C7D782C04E6}" type="pres">
      <dgm:prSet presAssocID="{5BCE825B-7E63-4373-9824-19F85994E5B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D72EE1B-9DEA-4044-BD61-0B8B41FA4660}" type="presOf" srcId="{5BCE825B-7E63-4373-9824-19F85994E5B6}" destId="{112ED4CC-AAFE-4A17-AB2F-8C7D782C04E6}" srcOrd="0" destOrd="0" presId="urn:microsoft.com/office/officeart/2018/5/layout/IconCircleLabelList"/>
    <dgm:cxn modelId="{A9B7153A-2E8B-4978-BBE3-6A3FB116485E}" type="presOf" srcId="{4FF96A11-DDFE-41CC-A1A1-9482D417E641}" destId="{A55AC1C5-E88A-43D2-91CC-EA850E5EB4AB}" srcOrd="0" destOrd="0" presId="urn:microsoft.com/office/officeart/2018/5/layout/IconCircleLabelList"/>
    <dgm:cxn modelId="{9B98B999-0A83-4110-9E11-D565AB4306C5}" type="presOf" srcId="{D791969F-4FD2-4144-A9E0-C4D9D24013F3}" destId="{762B6F21-C8EE-4032-B6DB-6ED7431F9E88}" srcOrd="0" destOrd="0" presId="urn:microsoft.com/office/officeart/2018/5/layout/IconCircleLabelList"/>
    <dgm:cxn modelId="{98148EA7-CFBE-449A-9233-963F39FEDF93}" type="presOf" srcId="{359FD9CA-FE2C-4FF7-9653-1547D3EE6FB7}" destId="{77631470-1277-48E3-BC3C-E437647F1150}" srcOrd="0" destOrd="0" presId="urn:microsoft.com/office/officeart/2018/5/layout/IconCircleLabelList"/>
    <dgm:cxn modelId="{C9C9FFD2-C0F4-4D4C-9386-7A18A2E129AF}" srcId="{D791969F-4FD2-4144-A9E0-C4D9D24013F3}" destId="{4FF96A11-DDFE-41CC-A1A1-9482D417E641}" srcOrd="1" destOrd="0" parTransId="{7E7CE6B9-4E58-4FE7-961C-69436351F3E0}" sibTransId="{38DBA72B-CF67-4E56-891A-E50B0348331D}"/>
    <dgm:cxn modelId="{FFF448F2-84AF-4983-AA2B-45466770C8C8}" srcId="{D791969F-4FD2-4144-A9E0-C4D9D24013F3}" destId="{5BCE825B-7E63-4373-9824-19F85994E5B6}" srcOrd="2" destOrd="0" parTransId="{752B013C-B031-46EF-AFC3-391AC2E525F8}" sibTransId="{505ECB13-C870-4371-9A57-AB74D29F1687}"/>
    <dgm:cxn modelId="{03C1C3F9-14EF-40B9-8D88-376D2212F57C}" srcId="{D791969F-4FD2-4144-A9E0-C4D9D24013F3}" destId="{359FD9CA-FE2C-4FF7-9653-1547D3EE6FB7}" srcOrd="0" destOrd="0" parTransId="{F40928A5-E7E8-4899-A891-19F85EC87A44}" sibTransId="{35468D4F-38FB-4480-859C-6EA819D44DDC}"/>
    <dgm:cxn modelId="{35485090-53A3-480B-88DA-5AE24C4C8AA4}" type="presParOf" srcId="{762B6F21-C8EE-4032-B6DB-6ED7431F9E88}" destId="{553C7BC3-35D8-44E9-B869-D42BF9B21242}" srcOrd="0" destOrd="0" presId="urn:microsoft.com/office/officeart/2018/5/layout/IconCircleLabelList"/>
    <dgm:cxn modelId="{3F047213-D022-4878-933A-965BEF30A145}" type="presParOf" srcId="{553C7BC3-35D8-44E9-B869-D42BF9B21242}" destId="{A5084189-36C9-4901-BAEC-B1C1E571BF67}" srcOrd="0" destOrd="0" presId="urn:microsoft.com/office/officeart/2018/5/layout/IconCircleLabelList"/>
    <dgm:cxn modelId="{2F34C2DC-A23B-4D41-8250-F96213E17303}" type="presParOf" srcId="{553C7BC3-35D8-44E9-B869-D42BF9B21242}" destId="{C4D94D90-E9D8-4521-AEB3-374D99BCCBC7}" srcOrd="1" destOrd="0" presId="urn:microsoft.com/office/officeart/2018/5/layout/IconCircleLabelList"/>
    <dgm:cxn modelId="{9E8041D4-0CED-4E6C-9E89-CD6E602E44D8}" type="presParOf" srcId="{553C7BC3-35D8-44E9-B869-D42BF9B21242}" destId="{703EB944-D38C-4F32-811B-5308808D798D}" srcOrd="2" destOrd="0" presId="urn:microsoft.com/office/officeart/2018/5/layout/IconCircleLabelList"/>
    <dgm:cxn modelId="{1B4F667B-EA35-4441-A107-A806AF839F69}" type="presParOf" srcId="{553C7BC3-35D8-44E9-B869-D42BF9B21242}" destId="{77631470-1277-48E3-BC3C-E437647F1150}" srcOrd="3" destOrd="0" presId="urn:microsoft.com/office/officeart/2018/5/layout/IconCircleLabelList"/>
    <dgm:cxn modelId="{D3A3A6D2-5F97-4891-A188-BB3D8BD22D37}" type="presParOf" srcId="{762B6F21-C8EE-4032-B6DB-6ED7431F9E88}" destId="{A6AB32F1-E743-4618-BA7E-93A41B60C0AF}" srcOrd="1" destOrd="0" presId="urn:microsoft.com/office/officeart/2018/5/layout/IconCircleLabelList"/>
    <dgm:cxn modelId="{AEF23805-439A-4A1E-997F-ED0668B063CC}" type="presParOf" srcId="{762B6F21-C8EE-4032-B6DB-6ED7431F9E88}" destId="{EAB1605B-FF77-40E7-B446-900B8DAA6AD0}" srcOrd="2" destOrd="0" presId="urn:microsoft.com/office/officeart/2018/5/layout/IconCircleLabelList"/>
    <dgm:cxn modelId="{7872E3FC-4903-4E1B-B435-8918A9E7B4FD}" type="presParOf" srcId="{EAB1605B-FF77-40E7-B446-900B8DAA6AD0}" destId="{7F01D528-40BF-43D1-8B91-700A3A48D80F}" srcOrd="0" destOrd="0" presId="urn:microsoft.com/office/officeart/2018/5/layout/IconCircleLabelList"/>
    <dgm:cxn modelId="{E192836F-3D68-4DE8-93B8-9BF09C38B0F1}" type="presParOf" srcId="{EAB1605B-FF77-40E7-B446-900B8DAA6AD0}" destId="{943B9899-6E85-4937-BF3F-EBE2915CFC62}" srcOrd="1" destOrd="0" presId="urn:microsoft.com/office/officeart/2018/5/layout/IconCircleLabelList"/>
    <dgm:cxn modelId="{D8A731F9-6178-4E76-A04B-45519C6FF149}" type="presParOf" srcId="{EAB1605B-FF77-40E7-B446-900B8DAA6AD0}" destId="{517E5B10-A07D-4BB2-92F0-E519FDAE42C3}" srcOrd="2" destOrd="0" presId="urn:microsoft.com/office/officeart/2018/5/layout/IconCircleLabelList"/>
    <dgm:cxn modelId="{1CC81E47-1D01-4521-82A9-40F4F0844266}" type="presParOf" srcId="{EAB1605B-FF77-40E7-B446-900B8DAA6AD0}" destId="{A55AC1C5-E88A-43D2-91CC-EA850E5EB4AB}" srcOrd="3" destOrd="0" presId="urn:microsoft.com/office/officeart/2018/5/layout/IconCircleLabelList"/>
    <dgm:cxn modelId="{F536CD97-8D63-4D82-A488-2BDDFC825FE9}" type="presParOf" srcId="{762B6F21-C8EE-4032-B6DB-6ED7431F9E88}" destId="{41A5E166-5032-4F5B-83E2-5024C31EAEB9}" srcOrd="3" destOrd="0" presId="urn:microsoft.com/office/officeart/2018/5/layout/IconCircleLabelList"/>
    <dgm:cxn modelId="{CCA47BF3-C58F-46B3-9D28-83A1D4BFEABF}" type="presParOf" srcId="{762B6F21-C8EE-4032-B6DB-6ED7431F9E88}" destId="{48216DA1-F18F-47D3-B014-9C1750BFA161}" srcOrd="4" destOrd="0" presId="urn:microsoft.com/office/officeart/2018/5/layout/IconCircleLabelList"/>
    <dgm:cxn modelId="{10A47690-5EF1-4A77-8F52-DC9B7FA6AAC0}" type="presParOf" srcId="{48216DA1-F18F-47D3-B014-9C1750BFA161}" destId="{5A07457E-EFBF-4784-8DD9-B6E33E4CE415}" srcOrd="0" destOrd="0" presId="urn:microsoft.com/office/officeart/2018/5/layout/IconCircleLabelList"/>
    <dgm:cxn modelId="{EE63EACE-3292-4DD5-877A-CFF9A44A29B2}" type="presParOf" srcId="{48216DA1-F18F-47D3-B014-9C1750BFA161}" destId="{EF4D2C3F-0F60-4AEF-8721-7EFE29F266A6}" srcOrd="1" destOrd="0" presId="urn:microsoft.com/office/officeart/2018/5/layout/IconCircleLabelList"/>
    <dgm:cxn modelId="{1C9F2CEA-FD27-406C-9131-5DC3D2AC0BF8}" type="presParOf" srcId="{48216DA1-F18F-47D3-B014-9C1750BFA161}" destId="{3C376F5C-E327-4A27-A201-CAF4A797CAD2}" srcOrd="2" destOrd="0" presId="urn:microsoft.com/office/officeart/2018/5/layout/IconCircleLabelList"/>
    <dgm:cxn modelId="{77770258-26BE-4C82-9EF1-476BB8A54EE3}" type="presParOf" srcId="{48216DA1-F18F-47D3-B014-9C1750BFA161}" destId="{112ED4CC-AAFE-4A17-AB2F-8C7D782C04E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492F54-5E79-4B83-93A5-771654E3397D}">
      <dsp:nvSpPr>
        <dsp:cNvPr id="0" name=""/>
        <dsp:cNvSpPr/>
      </dsp:nvSpPr>
      <dsp:spPr>
        <a:xfrm>
          <a:off x="530099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93281C-B552-4003-B885-129EDAF8E863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0B631-C24B-47FE-9D09-7D45B6EDFC25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How do demography (population growth) and institutions relate to GDP per-capita growth?</a:t>
          </a:r>
        </a:p>
      </dsp:txBody>
      <dsp:txXfrm>
        <a:off x="80381" y="2738169"/>
        <a:ext cx="2306250" cy="720000"/>
      </dsp:txXfrm>
    </dsp:sp>
    <dsp:sp modelId="{F04621EB-908B-416B-B4D7-6912D88D8EF3}">
      <dsp:nvSpPr>
        <dsp:cNvPr id="0" name=""/>
        <dsp:cNvSpPr/>
      </dsp:nvSpPr>
      <dsp:spPr>
        <a:xfrm>
          <a:off x="3239943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D3E213-EDFC-4414-BA7B-A71724D7D940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9E423F-6940-4E86-815D-C7650446B62B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Investment and external finance (FDI) may mediate or offset demographic dilution.</a:t>
          </a:r>
        </a:p>
      </dsp:txBody>
      <dsp:txXfrm>
        <a:off x="2790224" y="2738169"/>
        <a:ext cx="2306250" cy="720000"/>
      </dsp:txXfrm>
    </dsp:sp>
    <dsp:sp modelId="{85E0796C-D85D-4065-AFB8-6D66EC2DBF87}">
      <dsp:nvSpPr>
        <dsp:cNvPr id="0" name=""/>
        <dsp:cNvSpPr/>
      </dsp:nvSpPr>
      <dsp:spPr>
        <a:xfrm>
          <a:off x="5949787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7E26C-A784-4908-8C54-D849B10CD2BE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B9F8C-1B66-4F82-9AD0-C4E21E399C8E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Goal: Provide transparent, non-causal associations with reproducible tables/figures.</a:t>
          </a:r>
        </a:p>
      </dsp:txBody>
      <dsp:txXfrm>
        <a:off x="5500068" y="2738169"/>
        <a:ext cx="23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E0490-B261-4F72-9E56-14B32D866795}">
      <dsp:nvSpPr>
        <dsp:cNvPr id="0" name=""/>
        <dsp:cNvSpPr/>
      </dsp:nvSpPr>
      <dsp:spPr>
        <a:xfrm>
          <a:off x="481140" y="1266209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841B5C-0F9C-4EBE-8E34-29DD048E45DB}">
      <dsp:nvSpPr>
        <dsp:cNvPr id="0" name=""/>
        <dsp:cNvSpPr/>
      </dsp:nvSpPr>
      <dsp:spPr>
        <a:xfrm>
          <a:off x="2092" y="2323006"/>
          <a:ext cx="1741992" cy="762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Source: World Bank Data Bank</a:t>
          </a:r>
        </a:p>
      </dsp:txBody>
      <dsp:txXfrm>
        <a:off x="2092" y="2323006"/>
        <a:ext cx="1741992" cy="762121"/>
      </dsp:txXfrm>
    </dsp:sp>
    <dsp:sp modelId="{BCFD824F-7A77-46B1-AE1A-042CDD827AFA}">
      <dsp:nvSpPr>
        <dsp:cNvPr id="0" name=""/>
        <dsp:cNvSpPr/>
      </dsp:nvSpPr>
      <dsp:spPr>
        <a:xfrm>
          <a:off x="2527981" y="1266209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3FC58-3510-44C5-8A06-3F87616EFC5A}">
      <dsp:nvSpPr>
        <dsp:cNvPr id="0" name=""/>
        <dsp:cNvSpPr/>
      </dsp:nvSpPr>
      <dsp:spPr>
        <a:xfrm>
          <a:off x="2048933" y="2323006"/>
          <a:ext cx="1741992" cy="762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Dependent variable (DV): GDP per-capita growth (Δ log).</a:t>
          </a:r>
        </a:p>
      </dsp:txBody>
      <dsp:txXfrm>
        <a:off x="2048933" y="2323006"/>
        <a:ext cx="1741992" cy="762121"/>
      </dsp:txXfrm>
    </dsp:sp>
    <dsp:sp modelId="{46C58974-EC6C-4335-A6B1-DCFF3E1FA6D9}">
      <dsp:nvSpPr>
        <dsp:cNvPr id="0" name=""/>
        <dsp:cNvSpPr/>
      </dsp:nvSpPr>
      <dsp:spPr>
        <a:xfrm>
          <a:off x="4574822" y="1266209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2D4BD2-92D1-4C26-9929-44940F6EDC5D}">
      <dsp:nvSpPr>
        <dsp:cNvPr id="0" name=""/>
        <dsp:cNvSpPr/>
      </dsp:nvSpPr>
      <dsp:spPr>
        <a:xfrm>
          <a:off x="4095774" y="2323006"/>
          <a:ext cx="1741992" cy="762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Key independent variables: Population growth; Strength of legal rights (0–12); FDI net inflows (% GDP).</a:t>
          </a:r>
        </a:p>
      </dsp:txBody>
      <dsp:txXfrm>
        <a:off x="4095774" y="2323006"/>
        <a:ext cx="1741992" cy="762121"/>
      </dsp:txXfrm>
    </dsp:sp>
    <dsp:sp modelId="{106D2502-B816-4FF9-AD1E-CCEA7DE8B8B4}">
      <dsp:nvSpPr>
        <dsp:cNvPr id="0" name=""/>
        <dsp:cNvSpPr/>
      </dsp:nvSpPr>
      <dsp:spPr>
        <a:xfrm>
          <a:off x="6621662" y="1266209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AB3350-9BF3-4ACC-9529-963BCF5454EC}">
      <dsp:nvSpPr>
        <dsp:cNvPr id="0" name=""/>
        <dsp:cNvSpPr/>
      </dsp:nvSpPr>
      <dsp:spPr>
        <a:xfrm>
          <a:off x="6142615" y="2323006"/>
          <a:ext cx="1741992" cy="7621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Controls: Gini (inequality), education spending, gross capital formation, savings, life expectancy, age dependency, infant mortality.</a:t>
          </a:r>
        </a:p>
      </dsp:txBody>
      <dsp:txXfrm>
        <a:off x="6142615" y="2323006"/>
        <a:ext cx="1741992" cy="7621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92A039-4A56-4AAA-ACDB-FCEDEB7F1C83}">
      <dsp:nvSpPr>
        <dsp:cNvPr id="0" name=""/>
        <dsp:cNvSpPr/>
      </dsp:nvSpPr>
      <dsp:spPr>
        <a:xfrm>
          <a:off x="840986" y="392674"/>
          <a:ext cx="702421" cy="7024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4E246-A24C-4BDE-A238-57F7B3FED0EC}">
      <dsp:nvSpPr>
        <dsp:cNvPr id="0" name=""/>
        <dsp:cNvSpPr/>
      </dsp:nvSpPr>
      <dsp:spPr>
        <a:xfrm>
          <a:off x="411728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OLS with robust (HC) standard errors; sequential specifications:</a:t>
          </a:r>
        </a:p>
      </dsp:txBody>
      <dsp:txXfrm>
        <a:off x="411728" y="1356176"/>
        <a:ext cx="1560937" cy="624375"/>
      </dsp:txXfrm>
    </dsp:sp>
    <dsp:sp modelId="{EE3BA3C3-1040-4CAF-A345-50B9AD044E6E}">
      <dsp:nvSpPr>
        <dsp:cNvPr id="0" name=""/>
        <dsp:cNvSpPr/>
      </dsp:nvSpPr>
      <dsp:spPr>
        <a:xfrm>
          <a:off x="2675088" y="392674"/>
          <a:ext cx="702421" cy="7024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B54796-6B4E-4902-ABB4-6FC50A3D978B}">
      <dsp:nvSpPr>
        <dsp:cNvPr id="0" name=""/>
        <dsp:cNvSpPr/>
      </dsp:nvSpPr>
      <dsp:spPr>
        <a:xfrm>
          <a:off x="2245830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1) Baseline (demography only)</a:t>
          </a:r>
        </a:p>
      </dsp:txBody>
      <dsp:txXfrm>
        <a:off x="2245830" y="1356176"/>
        <a:ext cx="1560937" cy="624375"/>
      </dsp:txXfrm>
    </dsp:sp>
    <dsp:sp modelId="{A0BB4FEF-EB2F-484B-9363-B835B3EDB8E8}">
      <dsp:nvSpPr>
        <dsp:cNvPr id="0" name=""/>
        <dsp:cNvSpPr/>
      </dsp:nvSpPr>
      <dsp:spPr>
        <a:xfrm>
          <a:off x="4509189" y="392674"/>
          <a:ext cx="702421" cy="7024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78B0D4-3A1E-4AF0-83F5-C4BF127692CE}">
      <dsp:nvSpPr>
        <dsp:cNvPr id="0" name=""/>
        <dsp:cNvSpPr/>
      </dsp:nvSpPr>
      <dsp:spPr>
        <a:xfrm>
          <a:off x="4079932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2) + Investment &amp; external finance (FDI, savings, capital formation)</a:t>
          </a:r>
        </a:p>
      </dsp:txBody>
      <dsp:txXfrm>
        <a:off x="4079932" y="1356176"/>
        <a:ext cx="1560937" cy="624375"/>
      </dsp:txXfrm>
    </dsp:sp>
    <dsp:sp modelId="{38EFF330-9575-4D5B-9226-4755A82A2D6F}">
      <dsp:nvSpPr>
        <dsp:cNvPr id="0" name=""/>
        <dsp:cNvSpPr/>
      </dsp:nvSpPr>
      <dsp:spPr>
        <a:xfrm>
          <a:off x="6343291" y="392674"/>
          <a:ext cx="702421" cy="7024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76EAB1-1ACC-4937-B53B-ECB1CE3EBA86}">
      <dsp:nvSpPr>
        <dsp:cNvPr id="0" name=""/>
        <dsp:cNvSpPr/>
      </dsp:nvSpPr>
      <dsp:spPr>
        <a:xfrm>
          <a:off x="5914033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3) + Institutions (legal rights)</a:t>
          </a:r>
        </a:p>
      </dsp:txBody>
      <dsp:txXfrm>
        <a:off x="5914033" y="1356176"/>
        <a:ext cx="1560937" cy="624375"/>
      </dsp:txXfrm>
    </dsp:sp>
    <dsp:sp modelId="{9E0B2E9A-37D1-443C-A3CF-D02639E4A0CB}">
      <dsp:nvSpPr>
        <dsp:cNvPr id="0" name=""/>
        <dsp:cNvSpPr/>
      </dsp:nvSpPr>
      <dsp:spPr>
        <a:xfrm>
          <a:off x="2675088" y="2370786"/>
          <a:ext cx="702421" cy="7024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311675-065B-47D8-9D90-6CB5FF7106CB}">
      <dsp:nvSpPr>
        <dsp:cNvPr id="0" name=""/>
        <dsp:cNvSpPr/>
      </dsp:nvSpPr>
      <dsp:spPr>
        <a:xfrm>
          <a:off x="2245830" y="3334288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4) Full model (all covariates)</a:t>
          </a:r>
        </a:p>
      </dsp:txBody>
      <dsp:txXfrm>
        <a:off x="2245830" y="3334288"/>
        <a:ext cx="1560937" cy="624375"/>
      </dsp:txXfrm>
    </dsp:sp>
    <dsp:sp modelId="{40A76F5B-D228-4A6D-AC28-5C6AEE7FB31C}">
      <dsp:nvSpPr>
        <dsp:cNvPr id="0" name=""/>
        <dsp:cNvSpPr/>
      </dsp:nvSpPr>
      <dsp:spPr>
        <a:xfrm>
          <a:off x="4509189" y="2370786"/>
          <a:ext cx="702421" cy="70242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C0DCA0-99F5-4D64-9A03-68C88C0CBCFC}">
      <dsp:nvSpPr>
        <dsp:cNvPr id="0" name=""/>
        <dsp:cNvSpPr/>
      </dsp:nvSpPr>
      <dsp:spPr>
        <a:xfrm>
          <a:off x="4079932" y="3334288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Diagnostics: multicollinearity (VIF), heteroskedasticity tests, outlier review; sensitivity to log transforms and fixed effects.</a:t>
          </a:r>
        </a:p>
      </dsp:txBody>
      <dsp:txXfrm>
        <a:off x="4079932" y="3334288"/>
        <a:ext cx="1560937" cy="6243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D9381A-28C3-4154-9D8F-0C812897420C}">
      <dsp:nvSpPr>
        <dsp:cNvPr id="0" name=""/>
        <dsp:cNvSpPr/>
      </dsp:nvSpPr>
      <dsp:spPr>
        <a:xfrm>
          <a:off x="530099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87F7B-684D-4D09-B7D9-A4508210A612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01C11-0D96-4587-9BF8-6C867C5198FB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Faster population growth may dilute capital and skills, slowing per‑capita gains.</a:t>
          </a:r>
        </a:p>
      </dsp:txBody>
      <dsp:txXfrm>
        <a:off x="80381" y="2738169"/>
        <a:ext cx="2306250" cy="720000"/>
      </dsp:txXfrm>
    </dsp:sp>
    <dsp:sp modelId="{C5856773-738C-4219-967C-439550BDD226}">
      <dsp:nvSpPr>
        <dsp:cNvPr id="0" name=""/>
        <dsp:cNvSpPr/>
      </dsp:nvSpPr>
      <dsp:spPr>
        <a:xfrm>
          <a:off x="3239943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955286-BA3C-40F8-9EEB-8828BDB277CC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4CBC8D-A6A2-4E44-A913-A068D10CCA98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Stronger legal/creditor rights align with investment and capital deepening.</a:t>
          </a:r>
        </a:p>
      </dsp:txBody>
      <dsp:txXfrm>
        <a:off x="2790224" y="2738169"/>
        <a:ext cx="2306250" cy="720000"/>
      </dsp:txXfrm>
    </dsp:sp>
    <dsp:sp modelId="{6508B227-69AA-4252-A1A7-2D7DCDD61D6A}">
      <dsp:nvSpPr>
        <dsp:cNvPr id="0" name=""/>
        <dsp:cNvSpPr/>
      </dsp:nvSpPr>
      <dsp:spPr>
        <a:xfrm>
          <a:off x="5949787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5096D-F232-466E-98D5-71312BDBDFD2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E7A0C-DC41-4010-8836-124ED8237275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FDI can complement domestic investment; effect sizes depend on institutional quality.</a:t>
          </a:r>
        </a:p>
      </dsp:txBody>
      <dsp:txXfrm>
        <a:off x="5500068" y="2738169"/>
        <a:ext cx="23062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084189-36C9-4901-BAEC-B1C1E571BF67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D94D90-E9D8-4521-AEB3-374D99BCCBC7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31470-1277-48E3-BC3C-E437647F1150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Strengthen legal rights and rule-of-law to improve the investment climate.</a:t>
          </a:r>
        </a:p>
      </dsp:txBody>
      <dsp:txXfrm>
        <a:off x="80381" y="2738169"/>
        <a:ext cx="2306250" cy="720000"/>
      </dsp:txXfrm>
    </dsp:sp>
    <dsp:sp modelId="{7F01D528-40BF-43D1-8B91-700A3A48D80F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3B9899-6E85-4937-BF3F-EBE2915CFC62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AC1C5-E88A-43D2-91CC-EA850E5EB4AB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Target productivity and capital deepening; demography alone is not a shortcut to higher GDP per‑capita growth.</a:t>
          </a:r>
        </a:p>
      </dsp:txBody>
      <dsp:txXfrm>
        <a:off x="2790224" y="2738169"/>
        <a:ext cx="2306250" cy="720000"/>
      </dsp:txXfrm>
    </dsp:sp>
    <dsp:sp modelId="{5A07457E-EFBF-4784-8DD9-B6E33E4CE415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4D2C3F-0F60-4AEF-8721-7EFE29F266A6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2ED4CC-AAFE-4A17-AB2F-8C7D782C04E6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Maintain openness and stability that attract quality FDI.</a:t>
          </a:r>
        </a:p>
      </dsp:txBody>
      <dsp:txXfrm>
        <a:off x="5500068" y="2738169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FF601-108F-4E3A-924C-B7E29E34019B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D52A7-9AAF-4560-907A-BE00F2727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61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to three speaking points; avoid long prose.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Replace placeholders with your exact sample stats.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Tune language to match your final estimates; avoid causal phrasing.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 bibliographic references here if required by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0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C6777B5-64F4-4200-B099-34168B69F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rrows going up">
            <a:extLst>
              <a:ext uri="{FF2B5EF4-FFF2-40B4-BE49-F238E27FC236}">
                <a16:creationId xmlns:a16="http://schemas.microsoft.com/office/drawing/2014/main" id="{EE4F1F6F-89A4-FFCC-A8BD-A0C0EE8E76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920"/>
          <a:stretch>
            <a:fillRect/>
          </a:stretch>
        </p:blipFill>
        <p:spPr>
          <a:xfrm>
            <a:off x="20" y="10"/>
            <a:ext cx="9143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18" name="Rectangle 41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8762" cy="6038850"/>
          </a:xfrm>
          <a:custGeom>
            <a:avLst/>
            <a:gdLst>
              <a:gd name="connsiteX0" fmla="*/ 0 w 12192000"/>
              <a:gd name="connsiteY0" fmla="*/ 0 h 5835650"/>
              <a:gd name="connsiteX1" fmla="*/ 12192000 w 12192000"/>
              <a:gd name="connsiteY1" fmla="*/ 0 h 5835650"/>
              <a:gd name="connsiteX2" fmla="*/ 12192000 w 12192000"/>
              <a:gd name="connsiteY2" fmla="*/ 5835650 h 5835650"/>
              <a:gd name="connsiteX3" fmla="*/ 0 w 12192000"/>
              <a:gd name="connsiteY3" fmla="*/ 5835650 h 5835650"/>
              <a:gd name="connsiteX4" fmla="*/ 0 w 12192000"/>
              <a:gd name="connsiteY4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0 w 12198350"/>
              <a:gd name="connsiteY4" fmla="*/ 5835650 h 5835650"/>
              <a:gd name="connsiteX5" fmla="*/ 0 w 12198350"/>
              <a:gd name="connsiteY5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0 w 12198350"/>
              <a:gd name="connsiteY5" fmla="*/ 5835650 h 5835650"/>
              <a:gd name="connsiteX6" fmla="*/ 0 w 12198350"/>
              <a:gd name="connsiteY6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822450 w 12198350"/>
              <a:gd name="connsiteY5" fmla="*/ 58293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727200 w 12198350"/>
              <a:gd name="connsiteY5" fmla="*/ 54864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3854450 w 12198350"/>
              <a:gd name="connsiteY5" fmla="*/ 5695950 h 5835650"/>
              <a:gd name="connsiteX6" fmla="*/ 1727200 w 12198350"/>
              <a:gd name="connsiteY6" fmla="*/ 5486400 h 5835650"/>
              <a:gd name="connsiteX7" fmla="*/ 0 w 12198350"/>
              <a:gd name="connsiteY7" fmla="*/ 5835650 h 5835650"/>
              <a:gd name="connsiteX8" fmla="*/ 0 w 12198350"/>
              <a:gd name="connsiteY8" fmla="*/ 0 h 5835650"/>
              <a:gd name="connsiteX0" fmla="*/ 0 w 12198350"/>
              <a:gd name="connsiteY0" fmla="*/ 0 h 5842000"/>
              <a:gd name="connsiteX1" fmla="*/ 12192000 w 12198350"/>
              <a:gd name="connsiteY1" fmla="*/ 0 h 5842000"/>
              <a:gd name="connsiteX2" fmla="*/ 12198350 w 12198350"/>
              <a:gd name="connsiteY2" fmla="*/ 3505200 h 5842000"/>
              <a:gd name="connsiteX3" fmla="*/ 12192000 w 12198350"/>
              <a:gd name="connsiteY3" fmla="*/ 5835650 h 5842000"/>
              <a:gd name="connsiteX4" fmla="*/ 5060950 w 12198350"/>
              <a:gd name="connsiteY4" fmla="*/ 5835650 h 5842000"/>
              <a:gd name="connsiteX5" fmla="*/ 3663950 w 12198350"/>
              <a:gd name="connsiteY5" fmla="*/ 5842000 h 5842000"/>
              <a:gd name="connsiteX6" fmla="*/ 1727200 w 12198350"/>
              <a:gd name="connsiteY6" fmla="*/ 5486400 h 5842000"/>
              <a:gd name="connsiteX7" fmla="*/ 0 w 12198350"/>
              <a:gd name="connsiteY7" fmla="*/ 5835650 h 5842000"/>
              <a:gd name="connsiteX8" fmla="*/ 0 w 12198350"/>
              <a:gd name="connsiteY8" fmla="*/ 0 h 584200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4883150 w 12198350"/>
              <a:gd name="connsiteY4" fmla="*/ 5924550 h 5924550"/>
              <a:gd name="connsiteX5" fmla="*/ 3663950 w 12198350"/>
              <a:gd name="connsiteY5" fmla="*/ 5842000 h 5924550"/>
              <a:gd name="connsiteX6" fmla="*/ 1727200 w 12198350"/>
              <a:gd name="connsiteY6" fmla="*/ 5486400 h 5924550"/>
              <a:gd name="connsiteX7" fmla="*/ 0 w 12198350"/>
              <a:gd name="connsiteY7" fmla="*/ 5835650 h 5924550"/>
              <a:gd name="connsiteX8" fmla="*/ 0 w 12198350"/>
              <a:gd name="connsiteY8" fmla="*/ 0 h 592455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8318500 w 12198350"/>
              <a:gd name="connsiteY4" fmla="*/ 5867400 h 5924550"/>
              <a:gd name="connsiteX5" fmla="*/ 4883150 w 12198350"/>
              <a:gd name="connsiteY5" fmla="*/ 5924550 h 5924550"/>
              <a:gd name="connsiteX6" fmla="*/ 3663950 w 12198350"/>
              <a:gd name="connsiteY6" fmla="*/ 5842000 h 5924550"/>
              <a:gd name="connsiteX7" fmla="*/ 1727200 w 12198350"/>
              <a:gd name="connsiteY7" fmla="*/ 5486400 h 5924550"/>
              <a:gd name="connsiteX8" fmla="*/ 0 w 12198350"/>
              <a:gd name="connsiteY8" fmla="*/ 5835650 h 5924550"/>
              <a:gd name="connsiteX9" fmla="*/ 0 w 12198350"/>
              <a:gd name="connsiteY9" fmla="*/ 0 h 59245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9766300 w 12198350"/>
              <a:gd name="connsiteY4" fmla="*/ 59245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25525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8813800 w 12198350"/>
              <a:gd name="connsiteY3" fmla="*/ 57467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623550 w 12198350"/>
              <a:gd name="connsiteY3" fmla="*/ 48006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18540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766550 w 12198350"/>
              <a:gd name="connsiteY3" fmla="*/ 410845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8350" h="6038850">
                <a:moveTo>
                  <a:pt x="0" y="0"/>
                </a:moveTo>
                <a:lnTo>
                  <a:pt x="12192000" y="0"/>
                </a:lnTo>
                <a:cubicBezTo>
                  <a:pt x="12194117" y="1168400"/>
                  <a:pt x="12196233" y="2336800"/>
                  <a:pt x="12198350" y="3505200"/>
                </a:cubicBezTo>
                <a:cubicBezTo>
                  <a:pt x="11828992" y="3872442"/>
                  <a:pt x="11606741" y="4015317"/>
                  <a:pt x="11341100" y="4267200"/>
                </a:cubicBezTo>
                <a:cubicBezTo>
                  <a:pt x="11005609" y="4512733"/>
                  <a:pt x="10677525" y="4705350"/>
                  <a:pt x="10185400" y="4978400"/>
                </a:cubicBezTo>
                <a:cubicBezTo>
                  <a:pt x="9693275" y="5251450"/>
                  <a:pt x="9381067" y="5540375"/>
                  <a:pt x="8813800" y="5746750"/>
                </a:cubicBezTo>
                <a:lnTo>
                  <a:pt x="7219950" y="6038850"/>
                </a:lnTo>
                <a:lnTo>
                  <a:pt x="4883150" y="5924550"/>
                </a:lnTo>
                <a:lnTo>
                  <a:pt x="3663950" y="5842000"/>
                </a:lnTo>
                <a:lnTo>
                  <a:pt x="1727200" y="5486400"/>
                </a:lnTo>
                <a:lnTo>
                  <a:pt x="0" y="5835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  <a:gs pos="68000">
                <a:srgbClr val="000000">
                  <a:alpha val="4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8" y="3296010"/>
            <a:ext cx="9143592" cy="2849976"/>
            <a:chOff x="476" y="-3923157"/>
            <a:chExt cx="10667524" cy="2493729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1120676"/>
            <a:ext cx="5266135" cy="2308324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900">
                <a:solidFill>
                  <a:srgbClr val="FFFFFF"/>
                </a:solidFill>
              </a:rPr>
              <a:t>Population Growth &amp; GDP per-Capita Growth: Cross-Country Evidence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68" y="3809999"/>
            <a:ext cx="5269314" cy="101277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200">
                <a:solidFill>
                  <a:srgbClr val="FFFFFF"/>
                </a:solidFill>
              </a:rPr>
              <a:t>Gary Yu</a:t>
            </a:r>
            <a:br>
              <a:rPr lang="en-US" sz="2200">
                <a:solidFill>
                  <a:srgbClr val="FFFFFF"/>
                </a:solidFill>
              </a:rPr>
            </a:br>
            <a:r>
              <a:rPr lang="en-US" sz="2200">
                <a:solidFill>
                  <a:srgbClr val="FFFFFF"/>
                </a:solidFill>
              </a:rPr>
              <a:t>LinkedIn: linkedin.com/in/gary-yu-analyst</a:t>
            </a:r>
            <a:br>
              <a:rPr lang="en-US" sz="2200">
                <a:solidFill>
                  <a:srgbClr val="FFFFFF"/>
                </a:solidFill>
              </a:rPr>
            </a:br>
            <a:r>
              <a:rPr lang="en-US" sz="2200">
                <a:solidFill>
                  <a:srgbClr val="FFFFFF"/>
                </a:solidFill>
              </a:rPr>
              <a:t>GitHub: github.com/Yu2413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B4CD35-3E41-D833-3420-3DCA707D848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l="13136" r="1186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Motivation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89CC90-3782-75F6-8935-8BD09DC8D9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746394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316" y="1498602"/>
            <a:ext cx="3302509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095" y="2023558"/>
            <a:ext cx="2640949" cy="2491292"/>
          </a:xfrm>
        </p:spPr>
        <p:txBody>
          <a:bodyPr anchor="t">
            <a:normAutofit/>
          </a:bodyPr>
          <a:lstStyle/>
          <a:p>
            <a:r>
              <a:rPr lang="en-US" sz="3500"/>
              <a:t>Research Question(RQ) &amp; Hypotheses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4381" y="1311088"/>
            <a:ext cx="3957637" cy="432726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000"/>
            </a:pPr>
            <a:r>
              <a:rPr lang="en-US" sz="2100">
                <a:solidFill>
                  <a:schemeClr val="tx1">
                    <a:alpha val="80000"/>
                  </a:schemeClr>
                </a:solidFill>
              </a:rPr>
              <a:t>RQ: What is the association between population growth and GDP per-capita growth after controlling for investment and institutions?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2100">
                <a:solidFill>
                  <a:schemeClr val="tx1">
                    <a:alpha val="80000"/>
                  </a:schemeClr>
                </a:solidFill>
              </a:rPr>
              <a:t>H1: Population growth ↘ GDPpc growth (capital/labor dilution).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2100">
                <a:solidFill>
                  <a:schemeClr val="tx1">
                    <a:alpha val="80000"/>
                  </a:schemeClr>
                </a:solidFill>
              </a:rPr>
              <a:t>H2: Stronger legal/creditor rights ↗ GDPpc growth (investment climate).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2100">
                <a:solidFill>
                  <a:schemeClr val="tx1">
                    <a:alpha val="80000"/>
                  </a:schemeClr>
                </a:solidFill>
              </a:rPr>
              <a:t>H3: FDI inflows ↗ GDPpc growth (capital deepening).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3B8FEE-3BE0-51A7-AA24-72BF1D09B55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r="1133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0C9F74-8795-58B8-C87F-EC4789B0D5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925980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AE20D5-AFF9-3945-4AAF-AB54D5FF0F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8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Methods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089900D-66E9-A3EA-DD4F-FC63F14995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101756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41752"/>
            <a:ext cx="3293268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 — Determinants of GDP per-Capita Growth (OLS)???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3146400"/>
            <a:ext cx="3293268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pPr>
            <a:r>
              <a:rPr lang="en-US" sz="2100">
                <a:solidFill>
                  <a:schemeClr val="bg1">
                    <a:alpha val="80000"/>
                  </a:schemeClr>
                </a:solidFill>
              </a:rPr>
              <a:t>Notes: Coefficients with robust SEs in parentheses.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pPr>
            <a:r>
              <a:rPr lang="en-US" sz="2100">
                <a:solidFill>
                  <a:schemeClr val="bg1">
                    <a:alpha val="80000"/>
                  </a:schemeClr>
                </a:solidFill>
              </a:rPr>
              <a:t>* p&lt;0.10, ** p&lt;0.05, *** p&lt;0.01. Replace '—' with estimates; stack SEs below estimates in parentheses.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2000" y="841376"/>
            <a:ext cx="3945732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34FF57-9277-92C2-EF2A-9FD3D8E7B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838894"/>
              </p:ext>
            </p:extLst>
          </p:nvPr>
        </p:nvGraphicFramePr>
        <p:xfrm>
          <a:off x="4919624" y="1350833"/>
          <a:ext cx="3250486" cy="3063359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398894">
                  <a:extLst>
                    <a:ext uri="{9D8B030D-6E8A-4147-A177-3AD203B41FA5}">
                      <a16:colId xmlns:a16="http://schemas.microsoft.com/office/drawing/2014/main" val="3400644496"/>
                    </a:ext>
                  </a:extLst>
                </a:gridCol>
                <a:gridCol w="386373">
                  <a:extLst>
                    <a:ext uri="{9D8B030D-6E8A-4147-A177-3AD203B41FA5}">
                      <a16:colId xmlns:a16="http://schemas.microsoft.com/office/drawing/2014/main" val="1751505961"/>
                    </a:ext>
                  </a:extLst>
                </a:gridCol>
                <a:gridCol w="583563">
                  <a:extLst>
                    <a:ext uri="{9D8B030D-6E8A-4147-A177-3AD203B41FA5}">
                      <a16:colId xmlns:a16="http://schemas.microsoft.com/office/drawing/2014/main" val="1029315500"/>
                    </a:ext>
                  </a:extLst>
                </a:gridCol>
                <a:gridCol w="663606">
                  <a:extLst>
                    <a:ext uri="{9D8B030D-6E8A-4147-A177-3AD203B41FA5}">
                      <a16:colId xmlns:a16="http://schemas.microsoft.com/office/drawing/2014/main" val="3915526992"/>
                    </a:ext>
                  </a:extLst>
                </a:gridCol>
                <a:gridCol w="218050">
                  <a:extLst>
                    <a:ext uri="{9D8B030D-6E8A-4147-A177-3AD203B41FA5}">
                      <a16:colId xmlns:a16="http://schemas.microsoft.com/office/drawing/2014/main" val="2105911351"/>
                    </a:ext>
                  </a:extLst>
                </a:gridCol>
              </a:tblGrid>
              <a:tr h="211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Variable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Baseline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+Demography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+Invest/External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Full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379332"/>
                  </a:ext>
                </a:extLst>
              </a:tr>
              <a:tr h="211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Population growth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893518"/>
                  </a:ext>
                </a:extLst>
              </a:tr>
              <a:tr h="211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Strength of legal rights (0–12)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033678"/>
                  </a:ext>
                </a:extLst>
              </a:tr>
              <a:tr h="211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FDI net inflows (% GDP)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221509"/>
                  </a:ext>
                </a:extLst>
              </a:tr>
              <a:tr h="211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Gross capital formation (% GDP)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258440"/>
                  </a:ext>
                </a:extLst>
              </a:tr>
              <a:tr h="211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Gross domestic savings (% GDP)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814274"/>
                  </a:ext>
                </a:extLst>
              </a:tr>
              <a:tr h="314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Gov't spending on education (% GDP)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981747"/>
                  </a:ext>
                </a:extLst>
              </a:tr>
              <a:tr h="211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Gini coefficient (inequality)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589393"/>
                  </a:ext>
                </a:extLst>
              </a:tr>
              <a:tr h="211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Life expectancy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559074"/>
                  </a:ext>
                </a:extLst>
              </a:tr>
              <a:tr h="211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Age dependency ratio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994055"/>
                  </a:ext>
                </a:extLst>
              </a:tr>
              <a:tr h="211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Infant mortality rate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773126"/>
                  </a:ext>
                </a:extLst>
              </a:tr>
              <a:tr h="211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Constant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516454"/>
                  </a:ext>
                </a:extLst>
              </a:tr>
              <a:tr h="211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R-squared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280116"/>
                  </a:ext>
                </a:extLst>
              </a:tr>
              <a:tr h="211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Observations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en-US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100" marR="3598" marT="10314" marB="77357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0984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7231945-F27A-FD82-8BF5-50364B2DB0E2}"/>
              </a:ext>
            </a:extLst>
          </p:cNvPr>
          <p:cNvSpPr txBox="1"/>
          <p:nvPr/>
        </p:nvSpPr>
        <p:spPr>
          <a:xfrm>
            <a:off x="1963629" y="630936"/>
            <a:ext cx="5486400" cy="270201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Results: Important Variables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214D52-F921-4BC0-2CAE-D5056B6EF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273384"/>
              </p:ext>
            </p:extLst>
          </p:nvPr>
        </p:nvGraphicFramePr>
        <p:xfrm>
          <a:off x="551383" y="995391"/>
          <a:ext cx="8089702" cy="408216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33803">
                  <a:extLst>
                    <a:ext uri="{9D8B030D-6E8A-4147-A177-3AD203B41FA5}">
                      <a16:colId xmlns:a16="http://schemas.microsoft.com/office/drawing/2014/main" val="1982793905"/>
                    </a:ext>
                  </a:extLst>
                </a:gridCol>
                <a:gridCol w="971329">
                  <a:extLst>
                    <a:ext uri="{9D8B030D-6E8A-4147-A177-3AD203B41FA5}">
                      <a16:colId xmlns:a16="http://schemas.microsoft.com/office/drawing/2014/main" val="2282566054"/>
                    </a:ext>
                  </a:extLst>
                </a:gridCol>
                <a:gridCol w="994818">
                  <a:extLst>
                    <a:ext uri="{9D8B030D-6E8A-4147-A177-3AD203B41FA5}">
                      <a16:colId xmlns:a16="http://schemas.microsoft.com/office/drawing/2014/main" val="3840610062"/>
                    </a:ext>
                  </a:extLst>
                </a:gridCol>
                <a:gridCol w="940007">
                  <a:extLst>
                    <a:ext uri="{9D8B030D-6E8A-4147-A177-3AD203B41FA5}">
                      <a16:colId xmlns:a16="http://schemas.microsoft.com/office/drawing/2014/main" val="1828132186"/>
                    </a:ext>
                  </a:extLst>
                </a:gridCol>
                <a:gridCol w="1159252">
                  <a:extLst>
                    <a:ext uri="{9D8B030D-6E8A-4147-A177-3AD203B41FA5}">
                      <a16:colId xmlns:a16="http://schemas.microsoft.com/office/drawing/2014/main" val="142611087"/>
                    </a:ext>
                  </a:extLst>
                </a:gridCol>
                <a:gridCol w="996776">
                  <a:extLst>
                    <a:ext uri="{9D8B030D-6E8A-4147-A177-3AD203B41FA5}">
                      <a16:colId xmlns:a16="http://schemas.microsoft.com/office/drawing/2014/main" val="1894463969"/>
                    </a:ext>
                  </a:extLst>
                </a:gridCol>
                <a:gridCol w="902814">
                  <a:extLst>
                    <a:ext uri="{9D8B030D-6E8A-4147-A177-3AD203B41FA5}">
                      <a16:colId xmlns:a16="http://schemas.microsoft.com/office/drawing/2014/main" val="2143569126"/>
                    </a:ext>
                  </a:extLst>
                </a:gridCol>
                <a:gridCol w="990903">
                  <a:extLst>
                    <a:ext uri="{9D8B030D-6E8A-4147-A177-3AD203B41FA5}">
                      <a16:colId xmlns:a16="http://schemas.microsoft.com/office/drawing/2014/main" val="219485709"/>
                    </a:ext>
                  </a:extLst>
                </a:gridCol>
              </a:tblGrid>
              <a:tr h="88370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Model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Population growth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Strength of legal rights (0–12)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FDI net inflows (% GDP)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Gross capital formation (% GDP)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Gross domestic savings (% GDP)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Gov't education spend (% GDP)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Gini coefficient (inequality)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extLst>
                  <a:ext uri="{0D108BD9-81ED-4DB2-BD59-A6C34878D82A}">
                    <a16:rowId xmlns:a16="http://schemas.microsoft.com/office/drawing/2014/main" val="712673562"/>
                  </a:ext>
                </a:extLst>
              </a:tr>
              <a:tr h="2635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Baseline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-0.865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—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—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—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—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—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—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extLst>
                  <a:ext uri="{0D108BD9-81ED-4DB2-BD59-A6C34878D82A}">
                    <a16:rowId xmlns:a16="http://schemas.microsoft.com/office/drawing/2014/main" val="2663505673"/>
                  </a:ext>
                </a:extLst>
              </a:tr>
              <a:tr h="4702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Standard Error(SE)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-0.37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45" marR="11745" marT="11745" marB="0" anchor="ctr"/>
                </a:tc>
                <a:extLst>
                  <a:ext uri="{0D108BD9-81ED-4DB2-BD59-A6C34878D82A}">
                    <a16:rowId xmlns:a16="http://schemas.microsoft.com/office/drawing/2014/main" val="499230742"/>
                  </a:ext>
                </a:extLst>
              </a:tr>
              <a:tr h="4702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Increase Demography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—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0.508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0.066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0.083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0.057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-0.487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-0.113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extLst>
                  <a:ext uri="{0D108BD9-81ED-4DB2-BD59-A6C34878D82A}">
                    <a16:rowId xmlns:a16="http://schemas.microsoft.com/office/drawing/2014/main" val="3478092682"/>
                  </a:ext>
                </a:extLst>
              </a:tr>
              <a:tr h="39510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-0.179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-0.071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-0.346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-0.063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extLst>
                  <a:ext uri="{0D108BD9-81ED-4DB2-BD59-A6C34878D82A}">
                    <a16:rowId xmlns:a16="http://schemas.microsoft.com/office/drawing/2014/main" val="1038307451"/>
                  </a:ext>
                </a:extLst>
              </a:tr>
              <a:tr h="6769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Increase Invest / External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—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—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0.053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-0.013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—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—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extLst>
                  <a:ext uri="{0D108BD9-81ED-4DB2-BD59-A6C34878D82A}">
                    <a16:rowId xmlns:a16="http://schemas.microsoft.com/office/drawing/2014/main" val="1285567809"/>
                  </a:ext>
                </a:extLst>
              </a:tr>
              <a:tr h="39510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-0.023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-0.038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-0.021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u="none" strike="noStrike">
                          <a:effectLst/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45" marR="11745" marT="11745" marB="0" anchor="ctr"/>
                </a:tc>
                <a:extLst>
                  <a:ext uri="{0D108BD9-81ED-4DB2-BD59-A6C34878D82A}">
                    <a16:rowId xmlns:a16="http://schemas.microsoft.com/office/drawing/2014/main" val="3304322521"/>
                  </a:ext>
                </a:extLst>
              </a:tr>
              <a:tr h="2635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Full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-1.652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0.564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0.062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-0.605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-0.175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extLst>
                  <a:ext uri="{0D108BD9-81ED-4DB2-BD59-A6C34878D82A}">
                    <a16:rowId xmlns:a16="http://schemas.microsoft.com/office/drawing/2014/main" val="4107153401"/>
                  </a:ext>
                </a:extLst>
              </a:tr>
              <a:tr h="2635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-0.867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-0.181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-0.019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-0.085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-0.046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-0.399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-0.066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745" marR="11745" marT="11745" marB="0" anchor="ctr"/>
                </a:tc>
                <a:extLst>
                  <a:ext uri="{0D108BD9-81ED-4DB2-BD59-A6C34878D82A}">
                    <a16:rowId xmlns:a16="http://schemas.microsoft.com/office/drawing/2014/main" val="3172971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3759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1682CC5-BB36-C1FF-1075-4DEE62F8AC56}"/>
              </a:ext>
            </a:extLst>
          </p:cNvPr>
          <p:cNvSpPr txBox="1"/>
          <p:nvPr/>
        </p:nvSpPr>
        <p:spPr>
          <a:xfrm>
            <a:off x="1963629" y="630936"/>
            <a:ext cx="5486400" cy="270201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Results: Other Variables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C9B8FA6-D6EF-A18A-02D3-38AAFC966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472918"/>
              </p:ext>
            </p:extLst>
          </p:nvPr>
        </p:nvGraphicFramePr>
        <p:xfrm>
          <a:off x="551383" y="1454336"/>
          <a:ext cx="8089700" cy="3164271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61373">
                  <a:extLst>
                    <a:ext uri="{9D8B030D-6E8A-4147-A177-3AD203B41FA5}">
                      <a16:colId xmlns:a16="http://schemas.microsoft.com/office/drawing/2014/main" val="211364251"/>
                    </a:ext>
                  </a:extLst>
                </a:gridCol>
                <a:gridCol w="1072621">
                  <a:extLst>
                    <a:ext uri="{9D8B030D-6E8A-4147-A177-3AD203B41FA5}">
                      <a16:colId xmlns:a16="http://schemas.microsoft.com/office/drawing/2014/main" val="1960545782"/>
                    </a:ext>
                  </a:extLst>
                </a:gridCol>
                <a:gridCol w="1538475">
                  <a:extLst>
                    <a:ext uri="{9D8B030D-6E8A-4147-A177-3AD203B41FA5}">
                      <a16:colId xmlns:a16="http://schemas.microsoft.com/office/drawing/2014/main" val="2132721100"/>
                    </a:ext>
                  </a:extLst>
                </a:gridCol>
                <a:gridCol w="1207372">
                  <a:extLst>
                    <a:ext uri="{9D8B030D-6E8A-4147-A177-3AD203B41FA5}">
                      <a16:colId xmlns:a16="http://schemas.microsoft.com/office/drawing/2014/main" val="3541197244"/>
                    </a:ext>
                  </a:extLst>
                </a:gridCol>
                <a:gridCol w="878194">
                  <a:extLst>
                    <a:ext uri="{9D8B030D-6E8A-4147-A177-3AD203B41FA5}">
                      <a16:colId xmlns:a16="http://schemas.microsoft.com/office/drawing/2014/main" val="2213663037"/>
                    </a:ext>
                  </a:extLst>
                </a:gridCol>
                <a:gridCol w="805043">
                  <a:extLst>
                    <a:ext uri="{9D8B030D-6E8A-4147-A177-3AD203B41FA5}">
                      <a16:colId xmlns:a16="http://schemas.microsoft.com/office/drawing/2014/main" val="1011483978"/>
                    </a:ext>
                  </a:extLst>
                </a:gridCol>
                <a:gridCol w="1226622">
                  <a:extLst>
                    <a:ext uri="{9D8B030D-6E8A-4147-A177-3AD203B41FA5}">
                      <a16:colId xmlns:a16="http://schemas.microsoft.com/office/drawing/2014/main" val="3075226626"/>
                    </a:ext>
                  </a:extLst>
                </a:gridCol>
              </a:tblGrid>
              <a:tr h="499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Model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Life expectancy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Age dependency ratio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Infant mortality rate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Constant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R-squared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Observations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extLst>
                  <a:ext uri="{0D108BD9-81ED-4DB2-BD59-A6C34878D82A}">
                    <a16:rowId xmlns:a16="http://schemas.microsoft.com/office/drawing/2014/main" val="4211174207"/>
                  </a:ext>
                </a:extLst>
              </a:tr>
              <a:tr h="2776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Baseline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0.125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0.048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-0.014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-8.113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0.075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180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extLst>
                  <a:ext uri="{0D108BD9-81ED-4DB2-BD59-A6C34878D82A}">
                    <a16:rowId xmlns:a16="http://schemas.microsoft.com/office/drawing/2014/main" val="560931425"/>
                  </a:ext>
                </a:extLst>
              </a:tr>
              <a:tr h="2776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-0.122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-0.035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-0.029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-9.889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extLst>
                  <a:ext uri="{0D108BD9-81ED-4DB2-BD59-A6C34878D82A}">
                    <a16:rowId xmlns:a16="http://schemas.microsoft.com/office/drawing/2014/main" val="2943823969"/>
                  </a:ext>
                </a:extLst>
              </a:tr>
              <a:tr h="499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Increase Demography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—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—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—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2.193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0.366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55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extLst>
                  <a:ext uri="{0D108BD9-81ED-4DB2-BD59-A6C34878D82A}">
                    <a16:rowId xmlns:a16="http://schemas.microsoft.com/office/drawing/2014/main" val="2009995881"/>
                  </a:ext>
                </a:extLst>
              </a:tr>
              <a:tr h="2776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-3.513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extLst>
                  <a:ext uri="{0D108BD9-81ED-4DB2-BD59-A6C34878D82A}">
                    <a16:rowId xmlns:a16="http://schemas.microsoft.com/office/drawing/2014/main" val="1569366475"/>
                  </a:ext>
                </a:extLst>
              </a:tr>
              <a:tr h="499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Increase Invest/External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—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—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—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0.064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0.055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170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extLst>
                  <a:ext uri="{0D108BD9-81ED-4DB2-BD59-A6C34878D82A}">
                    <a16:rowId xmlns:a16="http://schemas.microsoft.com/office/drawing/2014/main" val="2910241387"/>
                  </a:ext>
                </a:extLst>
              </a:tr>
              <a:tr h="2776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-0.986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extLst>
                  <a:ext uri="{0D108BD9-81ED-4DB2-BD59-A6C34878D82A}">
                    <a16:rowId xmlns:a16="http://schemas.microsoft.com/office/drawing/2014/main" val="3895243749"/>
                  </a:ext>
                </a:extLst>
              </a:tr>
              <a:tr h="2776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Full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0.467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0.198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0.051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-37.296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0.485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55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extLst>
                  <a:ext uri="{0D108BD9-81ED-4DB2-BD59-A6C34878D82A}">
                    <a16:rowId xmlns:a16="http://schemas.microsoft.com/office/drawing/2014/main" val="260151008"/>
                  </a:ext>
                </a:extLst>
              </a:tr>
              <a:tr h="2776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-0.194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-0.086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-0.056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-16.157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550" marR="11550" marT="11550" marB="0" anchor="ctr"/>
                </a:tc>
                <a:extLst>
                  <a:ext uri="{0D108BD9-81ED-4DB2-BD59-A6C34878D82A}">
                    <a16:rowId xmlns:a16="http://schemas.microsoft.com/office/drawing/2014/main" val="1146854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484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003F6AAC-B526-8181-5A3C-381917DCF6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l="6474" r="4525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941832"/>
            <a:ext cx="7879842" cy="2057400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Key Findings (Non‑causal)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3241202"/>
            <a:ext cx="7879842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3502152"/>
            <a:ext cx="7879842" cy="2670048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1700">
                <a:solidFill>
                  <a:schemeClr val="bg1"/>
                </a:solidFill>
              </a:rPr>
              <a:t>Population growth is negatively associated with GDP per-capita growth in richer specifications.</a:t>
            </a:r>
          </a:p>
          <a:p>
            <a:pPr>
              <a:defRPr sz="2000"/>
            </a:pPr>
            <a:r>
              <a:rPr lang="en-US" sz="1700">
                <a:solidFill>
                  <a:schemeClr val="bg1"/>
                </a:solidFill>
              </a:rPr>
              <a:t>Strength of legal rights shows a positive association with GDP per-capita growth.</a:t>
            </a:r>
          </a:p>
          <a:p>
            <a:pPr>
              <a:defRPr sz="2000"/>
            </a:pPr>
            <a:r>
              <a:rPr lang="en-US" sz="1700">
                <a:solidFill>
                  <a:schemeClr val="bg1"/>
                </a:solidFill>
              </a:rPr>
              <a:t>FDI inflows are positively associated with GDP per-capita growth when investment variables are included.</a:t>
            </a:r>
          </a:p>
          <a:p>
            <a:pPr>
              <a:defRPr sz="2000"/>
            </a:pPr>
            <a:r>
              <a:rPr lang="en-US" sz="1700">
                <a:solidFill>
                  <a:schemeClr val="bg1"/>
                </a:solidFill>
              </a:rPr>
              <a:t>Inequality and education shares are mixed/not consistently significant.</a:t>
            </a:r>
          </a:p>
          <a:p>
            <a:pPr>
              <a:defRPr sz="2000"/>
            </a:pPr>
            <a:r>
              <a:rPr lang="en-US" sz="1700">
                <a:solidFill>
                  <a:schemeClr val="bg1"/>
                </a:solidFill>
              </a:rPr>
              <a:t>Model fit improves substantially from baseline to full specification (e.g., R² ≈ 0.01 → ≈ 0.48 in your slides).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A43E25-8C15-C76F-3F19-20AAA1092FC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Interpretation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F2E8B8-B3C1-C46B-0453-79C087C1EE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4793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69925"/>
            <a:ext cx="3381709" cy="1325563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Robustness &amp; Limitations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2026340"/>
            <a:ext cx="3915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500" y="2398957"/>
            <a:ext cx="7054999" cy="3526144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1700">
                <a:solidFill>
                  <a:schemeClr val="bg1"/>
                </a:solidFill>
              </a:rPr>
              <a:t>Check multicollinearity (report max VIF); winsorize heavy-tailed variables (e.g., FDI).</a:t>
            </a:r>
          </a:p>
          <a:p>
            <a:pPr>
              <a:defRPr sz="2000"/>
            </a:pPr>
            <a:r>
              <a:rPr lang="en-US" sz="1700">
                <a:solidFill>
                  <a:schemeClr val="bg1"/>
                </a:solidFill>
              </a:rPr>
              <a:t>Sensitivity to log transforms; region/year fixed effects where appropriate; cluster SEs by country if panel.</a:t>
            </a:r>
          </a:p>
          <a:p>
            <a:pPr>
              <a:defRPr sz="2000"/>
            </a:pPr>
            <a:r>
              <a:rPr lang="en-US" sz="1700">
                <a:solidFill>
                  <a:schemeClr val="bg1"/>
                </a:solidFill>
              </a:rPr>
              <a:t>Associational results—no instrument; possible reverse causality for institutions/inequality.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364F74-B74A-5DAD-FA4F-02259452CE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1133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Policy-Relevant Takeaways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4ED6FE-4605-61C5-71F0-34138B1A7F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39732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316" y="1498602"/>
            <a:ext cx="3302509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095" y="2023558"/>
            <a:ext cx="2640949" cy="2491292"/>
          </a:xfrm>
        </p:spPr>
        <p:txBody>
          <a:bodyPr anchor="t">
            <a:normAutofit/>
          </a:bodyPr>
          <a:lstStyle/>
          <a:p>
            <a:r>
              <a:rPr lang="en-US" sz="3000"/>
              <a:t>References &amp; Reproducibility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4381" y="1311088"/>
            <a:ext cx="3957637" cy="4327261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100">
                <a:solidFill>
                  <a:schemeClr val="tx1">
                    <a:alpha val="80000"/>
                  </a:schemeClr>
                </a:solidFill>
              </a:rPr>
              <a:t>World Bank World Development Indicators (list exact series names in notes).</a:t>
            </a:r>
          </a:p>
          <a:p>
            <a:pPr>
              <a:defRPr sz="2000"/>
            </a:pPr>
            <a:r>
              <a:rPr lang="en-US" sz="2100">
                <a:solidFill>
                  <a:schemeClr val="tx1">
                    <a:alpha val="80000"/>
                  </a:schemeClr>
                </a:solidFill>
              </a:rPr>
              <a:t>Code &amp; tables: GitHub — github.com/Yu2413 (add project folder link).</a:t>
            </a:r>
          </a:p>
          <a:p>
            <a:pPr>
              <a:defRPr sz="2000"/>
            </a:pPr>
            <a:r>
              <a:rPr lang="en-US" sz="2100">
                <a:solidFill>
                  <a:schemeClr val="tx1">
                    <a:alpha val="80000"/>
                  </a:schemeClr>
                </a:solidFill>
              </a:rPr>
              <a:t>Document model specs, diagnostics, and any data cleaning rules.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944</Words>
  <Application>Microsoft Office PowerPoint</Application>
  <PresentationFormat>On-screen Show (4:3)</PresentationFormat>
  <Paragraphs>241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Narrow</vt:lpstr>
      <vt:lpstr>Arial</vt:lpstr>
      <vt:lpstr>Calibri</vt:lpstr>
      <vt:lpstr>Office Theme</vt:lpstr>
      <vt:lpstr>Population Growth &amp; GDP per-Capita Growth: Cross-Country Evidence</vt:lpstr>
      <vt:lpstr>Motivation</vt:lpstr>
      <vt:lpstr>Research Question(RQ) &amp; Hypotheses</vt:lpstr>
      <vt:lpstr>Data</vt:lpstr>
      <vt:lpstr>Methods</vt:lpstr>
      <vt:lpstr>Results — Determinants of GDP per-Capita Growth (OLS)???</vt:lpstr>
      <vt:lpstr>PowerPoint Presentation</vt:lpstr>
      <vt:lpstr>PowerPoint Presentation</vt:lpstr>
      <vt:lpstr>Key Findings (Non‑causal)</vt:lpstr>
      <vt:lpstr>Interpretation</vt:lpstr>
      <vt:lpstr>Robustness &amp; Limitations</vt:lpstr>
      <vt:lpstr>Policy-Relevant Takeaways</vt:lpstr>
      <vt:lpstr>References &amp; Reproducibility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Gary Yu</cp:lastModifiedBy>
  <cp:revision>11</cp:revision>
  <dcterms:created xsi:type="dcterms:W3CDTF">2013-01-27T09:14:16Z</dcterms:created>
  <dcterms:modified xsi:type="dcterms:W3CDTF">2025-08-16T00:49:08Z</dcterms:modified>
  <cp:category/>
</cp:coreProperties>
</file>